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2" Type="http://schemas.openxmlformats.org/officeDocument/2006/relationships/notesSlide" Target="../notesSlides/notesSlide4.xml"/><Relationship Id="rId21" Type="http://schemas.openxmlformats.org/officeDocument/2006/relationships/slideLayout" Target="../slideLayouts/slideLayout1.xml"/><Relationship Id="rId20" Type="http://schemas.openxmlformats.org/officeDocument/2006/relationships/tags" Target="../tags/tag19.xml"/><Relationship Id="rId2" Type="http://schemas.openxmlformats.org/officeDocument/2006/relationships/image" Target="../media/image2.png"/><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1" Type="http://schemas.openxmlformats.org/officeDocument/2006/relationships/notesSlide" Target="../notesSlides/notesSlide5.xml"/><Relationship Id="rId20" Type="http://schemas.openxmlformats.org/officeDocument/2006/relationships/slideLayout" Target="../slideLayouts/slideLayout1.xml"/><Relationship Id="rId2" Type="http://schemas.openxmlformats.org/officeDocument/2006/relationships/tags" Target="../tags/tag21.xml"/><Relationship Id="rId19" Type="http://schemas.openxmlformats.org/officeDocument/2006/relationships/image" Target="../media/image3.png"/><Relationship Id="rId18" Type="http://schemas.openxmlformats.org/officeDocument/2006/relationships/tags" Target="../tags/tag37.xml"/><Relationship Id="rId17" Type="http://schemas.openxmlformats.org/officeDocument/2006/relationships/tags" Target="../tags/tag36.xml"/><Relationship Id="rId16" Type="http://schemas.openxmlformats.org/officeDocument/2006/relationships/tags" Target="../tags/tag35.xml"/><Relationship Id="rId15" Type="http://schemas.openxmlformats.org/officeDocument/2006/relationships/tags" Target="../tags/tag34.xml"/><Relationship Id="rId14" Type="http://schemas.openxmlformats.org/officeDocument/2006/relationships/tags" Target="../tags/tag33.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0.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2" Type="http://schemas.openxmlformats.org/officeDocument/2006/relationships/notesSlide" Target="../notesSlides/notesSlide7.xml"/><Relationship Id="rId11" Type="http://schemas.openxmlformats.org/officeDocument/2006/relationships/slideLayout" Target="../slideLayouts/slideLayout1.xml"/><Relationship Id="rId10" Type="http://schemas.openxmlformats.org/officeDocument/2006/relationships/tags" Target="../tags/tag47.xml"/><Relationship Id="rId1" Type="http://schemas.openxmlformats.org/officeDocument/2006/relationships/tags" Target="../tags/tag38.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png"/><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6336C"/>
          </a:solidFill>
        </p:spPr>
      </p:sp>
      <p:sp>
        <p:nvSpPr>
          <p:cNvPr id="3" name="Text 1"/>
          <p:cNvSpPr txBox="1"/>
          <p:nvPr/>
        </p:nvSpPr>
        <p:spPr>
          <a:xfrm>
            <a:off x="822960" y="2286000"/>
            <a:ext cx="7315200" cy="365760"/>
          </a:xfrm>
          <a:prstGeom prst="rect">
            <a:avLst/>
          </a:prstGeom>
          <a:noFill/>
        </p:spPr>
        <p:txBody>
          <a:bodyPr wrap="square" lIns="0" tIns="0" rIns="0" bIns="0" rtlCol="0" anchor="ctr"/>
          <a:lstStyle/>
          <a:p>
            <a:pPr marL="0" indent="0">
              <a:buNone/>
            </a:pPr>
            <a:r>
              <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rPr>
              <a:t>DATA ANALYTICS PROJECT</a:t>
            </a:r>
            <a:endPar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txBox="1"/>
          <p:nvPr/>
        </p:nvSpPr>
        <p:spPr>
          <a:xfrm>
            <a:off x="822960" y="2697480"/>
            <a:ext cx="9601200" cy="1005840"/>
          </a:xfrm>
          <a:prstGeom prst="rect">
            <a:avLst/>
          </a:prstGeom>
          <a:noFill/>
        </p:spPr>
        <p:txBody>
          <a:bodyPr wrap="square" lIns="0" tIns="0" rIns="0" bIns="0" rtlCol="0" anchor="ctr"/>
          <a:lstStyle/>
          <a:p>
            <a:pPr marL="0" indent="0">
              <a:buNone/>
            </a:pPr>
            <a:r>
              <a:rPr lang="en-US" sz="3800" b="1" dirty="0">
                <a:solidFill>
                  <a:srgbClr val="1B2A4A"/>
                </a:solidFill>
                <a:latin typeface="Cambria" panose="02040503050406030204" pitchFamily="34" charset="0"/>
                <a:ea typeface="Cambria" panose="02040503050406030204" pitchFamily="34" charset="-122"/>
                <a:cs typeface="Cambria" panose="02040503050406030204" pitchFamily="34" charset="-120"/>
              </a:rPr>
              <a:t>Customer Shopping Behavior Analysis</a:t>
            </a:r>
            <a:endParaRPr lang="en-US" sz="3800" dirty="0"/>
          </a:p>
        </p:txBody>
      </p:sp>
      <p:sp>
        <p:nvSpPr>
          <p:cNvPr id="5" name="Text 3"/>
          <p:cNvSpPr txBox="1"/>
          <p:nvPr/>
        </p:nvSpPr>
        <p:spPr>
          <a:xfrm>
            <a:off x="822960" y="3611880"/>
            <a:ext cx="8686800" cy="457200"/>
          </a:xfrm>
          <a:prstGeom prst="rect">
            <a:avLst/>
          </a:prstGeom>
          <a:noFill/>
        </p:spPr>
        <p:txBody>
          <a:bodyPr wrap="square" lIns="0" tIns="0" rIns="0" bIns="0" rtlCol="0" anchor="ctr"/>
          <a:lstStyle/>
          <a:p>
            <a:pPr marL="0" indent="0">
              <a:buNone/>
            </a:pPr>
            <a:r>
              <a:rPr lang="en-US" b="1" i="1" dirty="0">
                <a:solidFill>
                  <a:srgbClr val="5A6472"/>
                </a:solidFill>
                <a:latin typeface="Calibri" panose="020F0502020204030204" pitchFamily="34" charset="0"/>
                <a:ea typeface="Calibri" panose="020F0502020204030204" pitchFamily="34" charset="-122"/>
                <a:cs typeface="Calibri" panose="020F0502020204030204" pitchFamily="34" charset="-120"/>
              </a:rPr>
              <a:t>Python · SQL · Power BI  —  turning 3,900 transactions into business insight</a:t>
            </a:r>
            <a:endParaRPr lang="en-US" b="1" i="1"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Box 5"/>
          <p:cNvSpPr txBox="1"/>
          <p:nvPr/>
        </p:nvSpPr>
        <p:spPr>
          <a:xfrm>
            <a:off x="8567420" y="4557395"/>
            <a:ext cx="3624580" cy="1656080"/>
          </a:xfrm>
          <a:prstGeom prst="rect">
            <a:avLst/>
          </a:prstGeom>
          <a:noFill/>
        </p:spPr>
        <p:txBody>
          <a:bodyPr wrap="square" rtlCol="0" anchor="t">
            <a:noAutofit/>
          </a:bodyPr>
          <a:p>
            <a:r>
              <a:rPr lang="en-US" altLang="en-US" b="1" dirty="0">
                <a:solidFill>
                  <a:srgbClr val="1B2A4A"/>
                </a:solidFill>
                <a:ea typeface="Cambria" panose="02040503050406030204" pitchFamily="34" charset="-122"/>
                <a:cs typeface="+mn-lt"/>
                <a:sym typeface="+mn-ea"/>
              </a:rPr>
              <a:t>Mohammad Ali Jauhar</a:t>
            </a:r>
            <a:endParaRPr lang="en-US" altLang="en-US" b="1" dirty="0">
              <a:solidFill>
                <a:srgbClr val="1B2A4A"/>
              </a:solidFill>
              <a:ea typeface="Cambria" panose="02040503050406030204" pitchFamily="34" charset="-122"/>
              <a:cs typeface="+mn-lt"/>
              <a:sym typeface="+mn-ea"/>
            </a:endParaRPr>
          </a:p>
          <a:p>
            <a:r>
              <a:rPr lang="en-US" altLang="en-US" b="1" dirty="0">
                <a:solidFill>
                  <a:srgbClr val="1B2A4A"/>
                </a:solidFill>
                <a:ea typeface="Cambria" panose="02040503050406030204" pitchFamily="34" charset="-122"/>
                <a:cs typeface="+mn-lt"/>
                <a:sym typeface="+mn-ea"/>
              </a:rPr>
              <a:t>          University</a:t>
            </a:r>
            <a:endParaRPr lang="en-US" altLang="en-US" b="1" dirty="0">
              <a:solidFill>
                <a:srgbClr val="1B2A4A"/>
              </a:solidFill>
              <a:ea typeface="Cambria" panose="02040503050406030204" pitchFamily="34" charset="-122"/>
              <a:cs typeface="+mn-lt"/>
              <a:sym typeface="+mn-ea"/>
            </a:endParaRPr>
          </a:p>
          <a:p>
            <a:r>
              <a:rPr lang="en-US" altLang="en-US" b="1" dirty="0">
                <a:solidFill>
                  <a:srgbClr val="1B2A4A"/>
                </a:solidFill>
                <a:ea typeface="Cambria" panose="02040503050406030204" pitchFamily="34" charset="-122"/>
                <a:cs typeface="+mn-lt"/>
                <a:sym typeface="+mn-ea"/>
              </a:rPr>
              <a:t>Group No. 5 (BCA 3rd Year)</a:t>
            </a:r>
            <a:endParaRPr lang="en-US" altLang="en-US" b="1" dirty="0">
              <a:solidFill>
                <a:srgbClr val="1B2A4A"/>
              </a:solidFill>
              <a:ea typeface="Cambria" panose="02040503050406030204" pitchFamily="34" charset="-122"/>
              <a:cs typeface="+mn-lt"/>
              <a:sym typeface="+mn-ea"/>
            </a:endParaRPr>
          </a:p>
          <a:p>
            <a:r>
              <a:rPr lang="en-US" altLang="en-US" b="1" dirty="0">
                <a:solidFill>
                  <a:srgbClr val="1B2A4A"/>
                </a:solidFill>
                <a:ea typeface="Cambria" panose="02040503050406030204" pitchFamily="34" charset="-122"/>
                <a:cs typeface="+mn-lt"/>
                <a:sym typeface="+mn-ea"/>
              </a:rPr>
              <a:t>Daaniya khan (Roll No. 2405000005)</a:t>
            </a:r>
            <a:endParaRPr lang="en-US" altLang="en-US" b="1" dirty="0">
              <a:solidFill>
                <a:srgbClr val="1B2A4A"/>
              </a:solidFill>
              <a:ea typeface="Cambria" panose="02040503050406030204" pitchFamily="34" charset="-122"/>
              <a:cs typeface="+mn-lt"/>
              <a:sym typeface="+mn-ea"/>
            </a:endParaRPr>
          </a:p>
          <a:p>
            <a:r>
              <a:rPr lang="en-US" altLang="en-US" b="1" dirty="0">
                <a:solidFill>
                  <a:srgbClr val="1B2A4A"/>
                </a:solidFill>
                <a:ea typeface="Cambria" panose="02040503050406030204" pitchFamily="34" charset="-122"/>
                <a:cs typeface="+mn-lt"/>
                <a:sym typeface="+mn-ea"/>
              </a:rPr>
              <a:t>Mohd Amaan (Roll No. 2405000009)</a:t>
            </a:r>
            <a:endParaRPr lang="en-US" altLang="en-US" b="1" dirty="0">
              <a:solidFill>
                <a:srgbClr val="1B2A4A"/>
              </a:solidFill>
              <a:ea typeface="Cambria" panose="02040503050406030204" pitchFamily="34" charset="-122"/>
              <a:cs typeface="+mn-lt"/>
              <a:sym typeface="+mn-ea"/>
            </a:endParaRPr>
          </a:p>
          <a:p>
            <a:r>
              <a:rPr lang="en-US" altLang="en-US" b="1" dirty="0">
                <a:solidFill>
                  <a:srgbClr val="1B2A4A"/>
                </a:solidFill>
                <a:ea typeface="Cambria" panose="02040503050406030204" pitchFamily="34" charset="-122"/>
                <a:cs typeface="+mn-lt"/>
                <a:sym typeface="+mn-ea"/>
              </a:rPr>
              <a:t>Mohd Arsalan</a:t>
            </a:r>
            <a:endParaRPr lang="en-US" altLang="en-US" b="1" dirty="0">
              <a:solidFill>
                <a:srgbClr val="1B2A4A"/>
              </a:solidFill>
              <a:ea typeface="Cambria" panose="02040503050406030204" pitchFamily="34" charset="-122"/>
              <a:cs typeface="+mn-lt"/>
              <a:sym typeface="+mn-ea"/>
            </a:endParaRPr>
          </a:p>
          <a:p>
            <a:r>
              <a:rPr lang="en-US" altLang="en-US" b="1" dirty="0">
                <a:solidFill>
                  <a:srgbClr val="1B2A4A"/>
                </a:solidFill>
                <a:ea typeface="Cambria" panose="02040503050406030204" pitchFamily="34" charset="-122"/>
                <a:cs typeface="+mn-lt"/>
                <a:sym typeface="+mn-ea"/>
              </a:rPr>
              <a:t>Mohd Shaqib</a:t>
            </a:r>
            <a:endParaRPr lang="en-US" altLang="en-US" b="1" dirty="0">
              <a:solidFill>
                <a:srgbClr val="1B2A4A"/>
              </a:solidFill>
              <a:ea typeface="Cambria" panose="02040503050406030204" pitchFamily="34" charset="-122"/>
              <a:cs typeface="+mn-lt"/>
              <a:sym typeface="+mn-ea"/>
            </a:endParaRPr>
          </a:p>
          <a:p>
            <a:endParaRPr lang="en-US" altLang="en-US" b="1" dirty="0">
              <a:solidFill>
                <a:srgbClr val="1B2A4A"/>
              </a:solidFill>
              <a:ea typeface="Cambria" panose="02040503050406030204" pitchFamily="34" charset="-122"/>
              <a:cs typeface="+mn-lt"/>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p:spPr>
        <p:txBody>
          <a:bodyPr wrap="square" lIns="0" tIns="0" rIns="0" bIns="0" rtlCol="0" anchor="ctr"/>
          <a:lstStyle/>
          <a:p>
            <a:pPr marL="0" indent="0">
              <a:buNone/>
            </a:pPr>
            <a:r>
              <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rPr>
              <a:t>OVERVIEW</a:t>
            </a:r>
            <a:endPar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txBox="1"/>
          <p:nvPr/>
        </p:nvSpPr>
        <p:spPr>
          <a:xfrm>
            <a:off x="548640" y="713232"/>
            <a:ext cx="9601200" cy="640080"/>
          </a:xfrm>
          <a:prstGeom prst="rect">
            <a:avLst/>
          </a:prstGeom>
          <a:noFill/>
        </p:spPr>
        <p:txBody>
          <a:bodyPr wrap="square" lIns="0" tIns="0" rIns="0" bIns="0" rtlCol="0" anchor="ctr"/>
          <a:lstStyle/>
          <a:p>
            <a:pPr marL="0" indent="0">
              <a:buNone/>
            </a:pPr>
            <a:r>
              <a:rPr lang="en-US" sz="2600" b="1" dirty="0">
                <a:solidFill>
                  <a:srgbClr val="1B2A4A"/>
                </a:solidFill>
                <a:latin typeface="Cambria" panose="02040503050406030204" pitchFamily="34" charset="0"/>
                <a:ea typeface="Cambria" panose="02040503050406030204" pitchFamily="34" charset="-122"/>
                <a:cs typeface="Cambria" panose="02040503050406030204" pitchFamily="34" charset="-120"/>
              </a:rPr>
              <a:t>Project Overview</a:t>
            </a:r>
            <a:endParaRPr lang="en-US" sz="2600" dirty="0"/>
          </a:p>
        </p:txBody>
      </p:sp>
      <p:sp>
        <p:nvSpPr>
          <p:cNvPr id="4" name="Shape 2"/>
          <p:cNvSpPr/>
          <p:nvPr/>
        </p:nvSpPr>
        <p:spPr>
          <a:xfrm>
            <a:off x="548640" y="1371600"/>
            <a:ext cx="11064240" cy="0"/>
          </a:xfrm>
          <a:prstGeom prst="line">
            <a:avLst/>
          </a:prstGeom>
          <a:noFill/>
          <a:ln w="12700">
            <a:solidFill>
              <a:srgbClr val="E3E6EC"/>
            </a:solidFill>
            <a:prstDash val="solid"/>
          </a:ln>
        </p:spPr>
      </p:sp>
      <p:sp>
        <p:nvSpPr>
          <p:cNvPr id="5" name="Text 3"/>
          <p:cNvSpPr txBox="1"/>
          <p:nvPr/>
        </p:nvSpPr>
        <p:spPr>
          <a:xfrm>
            <a:off x="548640" y="1737360"/>
            <a:ext cx="10241280" cy="1188720"/>
          </a:xfrm>
          <a:prstGeom prst="rect">
            <a:avLst/>
          </a:prstGeom>
          <a:noFill/>
        </p:spPr>
        <p:txBody>
          <a:bodyPr wrap="square" lIns="0" tIns="0" rIns="0" bIns="0" rtlCol="0" anchor="ctr"/>
          <a:lstStyle/>
          <a:p>
            <a:pPr marL="0" indent="0">
              <a:lnSpc>
                <a:spcPct val="130000"/>
              </a:lnSpc>
              <a:buNone/>
            </a:pPr>
            <a:r>
              <a:rPr lang="en-US" sz="2000" dirty="0">
                <a:solidFill>
                  <a:srgbClr val="333333"/>
                </a:solidFill>
                <a:latin typeface="Calibri" panose="020F0502020204030204" pitchFamily="34" charset="0"/>
                <a:ea typeface="Calibri" panose="020F0502020204030204" pitchFamily="34" charset="-122"/>
                <a:cs typeface="Calibri" panose="020F0502020204030204" pitchFamily="34" charset="-120"/>
              </a:rPr>
              <a:t>This project analyzes customer shopping behavior using transactional data from 3,900 purchases across multiple product categories. The goal is to uncover spending patterns, customer segments, product preferences, and subscription behavior to guide strategic business decisions.</a:t>
            </a:r>
            <a:endParaRPr lang="en-US" sz="2000" dirty="0">
              <a:solidFill>
                <a:srgbClr val="333333"/>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548640" y="3246120"/>
            <a:ext cx="2514600" cy="1371600"/>
          </a:xfrm>
          <a:prstGeom prst="rect">
            <a:avLst/>
          </a:prstGeom>
          <a:solidFill>
            <a:srgbClr val="FAFAFB"/>
          </a:solidFill>
          <a:ln w="12700">
            <a:solidFill>
              <a:srgbClr val="E3E6EC"/>
            </a:solidFill>
            <a:prstDash val="solid"/>
          </a:ln>
        </p:spPr>
      </p:sp>
      <p:sp>
        <p:nvSpPr>
          <p:cNvPr id="7" name="Text 5"/>
          <p:cNvSpPr txBox="1"/>
          <p:nvPr/>
        </p:nvSpPr>
        <p:spPr>
          <a:xfrm>
            <a:off x="548640" y="3401568"/>
            <a:ext cx="2514600" cy="594360"/>
          </a:xfrm>
          <a:prstGeom prst="rect">
            <a:avLst/>
          </a:prstGeom>
          <a:noFill/>
        </p:spPr>
        <p:txBody>
          <a:bodyPr wrap="square" lIns="0" tIns="0" rIns="0" bIns="0" rtlCol="0" anchor="ctr"/>
          <a:lstStyle/>
          <a:p>
            <a:pPr marL="0" indent="0" algn="ctr">
              <a:buNone/>
            </a:pPr>
            <a:r>
              <a:rPr lang="en-US" sz="2200" b="1" dirty="0">
                <a:solidFill>
                  <a:srgbClr val="1B2A4A"/>
                </a:solidFill>
                <a:latin typeface="Cambria" panose="02040503050406030204" pitchFamily="34" charset="0"/>
                <a:ea typeface="Cambria" panose="02040503050406030204" pitchFamily="34" charset="-122"/>
                <a:cs typeface="Cambria" panose="02040503050406030204" pitchFamily="34" charset="-120"/>
              </a:rPr>
              <a:t>3,900</a:t>
            </a:r>
            <a:endParaRPr lang="en-US" sz="2200" dirty="0"/>
          </a:p>
        </p:txBody>
      </p:sp>
      <p:sp>
        <p:nvSpPr>
          <p:cNvPr id="8" name="Text 6"/>
          <p:cNvSpPr txBox="1"/>
          <p:nvPr/>
        </p:nvSpPr>
        <p:spPr>
          <a:xfrm>
            <a:off x="548640" y="4023360"/>
            <a:ext cx="2514600" cy="502920"/>
          </a:xfrm>
          <a:prstGeom prst="rect">
            <a:avLst/>
          </a:prstGeom>
          <a:noFill/>
        </p:spPr>
        <p:txBody>
          <a:bodyPr wrap="square" lIns="0" tIns="0" rIns="0" bIns="0" rtlCol="0" anchor="ctr"/>
          <a:lstStyle/>
          <a:p>
            <a:pPr marL="0" indent="0" algn="ctr">
              <a:buNone/>
            </a:pPr>
            <a:r>
              <a:rPr lang="en-US" sz="1150" dirty="0">
                <a:solidFill>
                  <a:srgbClr val="5A6472"/>
                </a:solidFill>
                <a:latin typeface="Calibri" panose="020F0502020204030204" pitchFamily="34" charset="0"/>
                <a:ea typeface="Calibri" panose="020F0502020204030204" pitchFamily="34" charset="-122"/>
                <a:cs typeface="Calibri" panose="020F0502020204030204" pitchFamily="34" charset="-120"/>
              </a:rPr>
              <a:t>transactions analyzed</a:t>
            </a:r>
            <a:endParaRPr lang="en-US" sz="1150" dirty="0"/>
          </a:p>
        </p:txBody>
      </p:sp>
      <p:sp>
        <p:nvSpPr>
          <p:cNvPr id="9" name="Shape 7"/>
          <p:cNvSpPr/>
          <p:nvPr/>
        </p:nvSpPr>
        <p:spPr>
          <a:xfrm>
            <a:off x="3291840" y="3246120"/>
            <a:ext cx="2514600" cy="1371600"/>
          </a:xfrm>
          <a:prstGeom prst="rect">
            <a:avLst/>
          </a:prstGeom>
          <a:solidFill>
            <a:srgbClr val="FAFAFB"/>
          </a:solidFill>
          <a:ln w="12700">
            <a:solidFill>
              <a:srgbClr val="E3E6EC"/>
            </a:solidFill>
            <a:prstDash val="solid"/>
          </a:ln>
        </p:spPr>
      </p:sp>
      <p:sp>
        <p:nvSpPr>
          <p:cNvPr id="10" name="Text 8"/>
          <p:cNvSpPr txBox="1"/>
          <p:nvPr/>
        </p:nvSpPr>
        <p:spPr>
          <a:xfrm>
            <a:off x="3291840" y="3401568"/>
            <a:ext cx="2514600" cy="594360"/>
          </a:xfrm>
          <a:prstGeom prst="rect">
            <a:avLst/>
          </a:prstGeom>
          <a:noFill/>
        </p:spPr>
        <p:txBody>
          <a:bodyPr wrap="square" lIns="0" tIns="0" rIns="0" bIns="0" rtlCol="0" anchor="ctr"/>
          <a:lstStyle/>
          <a:p>
            <a:pPr marL="0" indent="0" algn="ctr">
              <a:buNone/>
            </a:pPr>
            <a:r>
              <a:rPr lang="en-US" sz="2200" b="1" dirty="0">
                <a:solidFill>
                  <a:srgbClr val="1B2A4A"/>
                </a:solidFill>
                <a:latin typeface="Cambria" panose="02040503050406030204" pitchFamily="34" charset="0"/>
                <a:ea typeface="Cambria" panose="02040503050406030204" pitchFamily="34" charset="-122"/>
                <a:cs typeface="Cambria" panose="02040503050406030204" pitchFamily="34" charset="-120"/>
              </a:rPr>
              <a:t>18</a:t>
            </a:r>
            <a:endParaRPr lang="en-US" sz="2200" dirty="0"/>
          </a:p>
        </p:txBody>
      </p:sp>
      <p:sp>
        <p:nvSpPr>
          <p:cNvPr id="11" name="Text 9"/>
          <p:cNvSpPr txBox="1"/>
          <p:nvPr/>
        </p:nvSpPr>
        <p:spPr>
          <a:xfrm>
            <a:off x="3291840" y="4023360"/>
            <a:ext cx="2514600" cy="502920"/>
          </a:xfrm>
          <a:prstGeom prst="rect">
            <a:avLst/>
          </a:prstGeom>
          <a:noFill/>
        </p:spPr>
        <p:txBody>
          <a:bodyPr wrap="square" lIns="0" tIns="0" rIns="0" bIns="0" rtlCol="0" anchor="ctr"/>
          <a:lstStyle/>
          <a:p>
            <a:pPr marL="0" indent="0" algn="ctr">
              <a:buNone/>
            </a:pPr>
            <a:r>
              <a:rPr lang="en-US" sz="1150" dirty="0">
                <a:solidFill>
                  <a:srgbClr val="5A6472"/>
                </a:solidFill>
                <a:latin typeface="Calibri" panose="020F0502020204030204" pitchFamily="34" charset="0"/>
                <a:ea typeface="Calibri" panose="020F0502020204030204" pitchFamily="34" charset="-122"/>
                <a:cs typeface="Calibri" panose="020F0502020204030204" pitchFamily="34" charset="-120"/>
              </a:rPr>
              <a:t>data fields</a:t>
            </a:r>
            <a:endParaRPr lang="en-US" sz="1150" dirty="0"/>
          </a:p>
        </p:txBody>
      </p:sp>
      <p:sp>
        <p:nvSpPr>
          <p:cNvPr id="12" name="Shape 10"/>
          <p:cNvSpPr/>
          <p:nvPr/>
        </p:nvSpPr>
        <p:spPr>
          <a:xfrm>
            <a:off x="6035040" y="3246120"/>
            <a:ext cx="2514600" cy="1371600"/>
          </a:xfrm>
          <a:prstGeom prst="rect">
            <a:avLst/>
          </a:prstGeom>
          <a:solidFill>
            <a:srgbClr val="FAFAFB"/>
          </a:solidFill>
          <a:ln w="12700">
            <a:solidFill>
              <a:srgbClr val="E3E6EC"/>
            </a:solidFill>
            <a:prstDash val="solid"/>
          </a:ln>
        </p:spPr>
      </p:sp>
      <p:sp>
        <p:nvSpPr>
          <p:cNvPr id="13" name="Text 11"/>
          <p:cNvSpPr txBox="1"/>
          <p:nvPr/>
        </p:nvSpPr>
        <p:spPr>
          <a:xfrm>
            <a:off x="6035040" y="3401568"/>
            <a:ext cx="2514600" cy="594360"/>
          </a:xfrm>
          <a:prstGeom prst="rect">
            <a:avLst/>
          </a:prstGeom>
          <a:noFill/>
        </p:spPr>
        <p:txBody>
          <a:bodyPr wrap="square" lIns="0" tIns="0" rIns="0" bIns="0" rtlCol="0" anchor="ctr"/>
          <a:lstStyle/>
          <a:p>
            <a:pPr marL="0" indent="0" algn="ctr">
              <a:buNone/>
            </a:pPr>
            <a:r>
              <a:rPr lang="en-US" sz="2200" b="1" dirty="0">
                <a:solidFill>
                  <a:srgbClr val="1B2A4A"/>
                </a:solidFill>
                <a:latin typeface="Cambria" panose="02040503050406030204" pitchFamily="34" charset="0"/>
                <a:ea typeface="Cambria" panose="02040503050406030204" pitchFamily="34" charset="-122"/>
                <a:cs typeface="Cambria" panose="02040503050406030204" pitchFamily="34" charset="-120"/>
              </a:rPr>
              <a:t>PostgreSQL</a:t>
            </a:r>
            <a:endParaRPr lang="en-US" sz="2200" dirty="0"/>
          </a:p>
        </p:txBody>
      </p:sp>
      <p:sp>
        <p:nvSpPr>
          <p:cNvPr id="14" name="Text 12"/>
          <p:cNvSpPr txBox="1"/>
          <p:nvPr/>
        </p:nvSpPr>
        <p:spPr>
          <a:xfrm>
            <a:off x="6035040" y="4023360"/>
            <a:ext cx="2514600" cy="502920"/>
          </a:xfrm>
          <a:prstGeom prst="rect">
            <a:avLst/>
          </a:prstGeom>
          <a:noFill/>
        </p:spPr>
        <p:txBody>
          <a:bodyPr wrap="square" lIns="0" tIns="0" rIns="0" bIns="0" rtlCol="0" anchor="ctr"/>
          <a:lstStyle/>
          <a:p>
            <a:pPr marL="0" indent="0" algn="ctr">
              <a:buNone/>
            </a:pPr>
            <a:r>
              <a:rPr lang="en-US" sz="1150" dirty="0">
                <a:solidFill>
                  <a:srgbClr val="5A6472"/>
                </a:solidFill>
                <a:latin typeface="Calibri" panose="020F0502020204030204" pitchFamily="34" charset="0"/>
                <a:ea typeface="Calibri" panose="020F0502020204030204" pitchFamily="34" charset="-122"/>
                <a:cs typeface="Calibri" panose="020F0502020204030204" pitchFamily="34" charset="-120"/>
              </a:rPr>
              <a:t>for SQL analysis</a:t>
            </a:r>
            <a:endParaRPr lang="en-US" sz="1150" dirty="0"/>
          </a:p>
        </p:txBody>
      </p:sp>
      <p:sp>
        <p:nvSpPr>
          <p:cNvPr id="15" name="Shape 13"/>
          <p:cNvSpPr/>
          <p:nvPr/>
        </p:nvSpPr>
        <p:spPr>
          <a:xfrm>
            <a:off x="8778240" y="3246120"/>
            <a:ext cx="2514600" cy="1371600"/>
          </a:xfrm>
          <a:prstGeom prst="rect">
            <a:avLst/>
          </a:prstGeom>
          <a:solidFill>
            <a:srgbClr val="FAFAFB"/>
          </a:solidFill>
          <a:ln w="12700">
            <a:solidFill>
              <a:srgbClr val="E3E6EC"/>
            </a:solidFill>
            <a:prstDash val="solid"/>
          </a:ln>
        </p:spPr>
      </p:sp>
      <p:sp>
        <p:nvSpPr>
          <p:cNvPr id="16" name="Text 14"/>
          <p:cNvSpPr txBox="1"/>
          <p:nvPr/>
        </p:nvSpPr>
        <p:spPr>
          <a:xfrm>
            <a:off x="8778240" y="3401568"/>
            <a:ext cx="2514600" cy="594360"/>
          </a:xfrm>
          <a:prstGeom prst="rect">
            <a:avLst/>
          </a:prstGeom>
          <a:noFill/>
        </p:spPr>
        <p:txBody>
          <a:bodyPr wrap="square" lIns="0" tIns="0" rIns="0" bIns="0" rtlCol="0" anchor="ctr"/>
          <a:lstStyle/>
          <a:p>
            <a:pPr marL="0" indent="0" algn="ctr">
              <a:buNone/>
            </a:pPr>
            <a:r>
              <a:rPr lang="en-US" sz="2200" b="1" dirty="0">
                <a:solidFill>
                  <a:srgbClr val="1B2A4A"/>
                </a:solidFill>
                <a:latin typeface="Cambria" panose="02040503050406030204" pitchFamily="34" charset="0"/>
                <a:ea typeface="Cambria" panose="02040503050406030204" pitchFamily="34" charset="-122"/>
                <a:cs typeface="Cambria" panose="02040503050406030204" pitchFamily="34" charset="-120"/>
              </a:rPr>
              <a:t>Power BI</a:t>
            </a:r>
            <a:endParaRPr lang="en-US" sz="2200" dirty="0"/>
          </a:p>
        </p:txBody>
      </p:sp>
      <p:sp>
        <p:nvSpPr>
          <p:cNvPr id="17" name="Text 15"/>
          <p:cNvSpPr txBox="1"/>
          <p:nvPr/>
        </p:nvSpPr>
        <p:spPr>
          <a:xfrm>
            <a:off x="8778240" y="4023360"/>
            <a:ext cx="2514600" cy="502920"/>
          </a:xfrm>
          <a:prstGeom prst="rect">
            <a:avLst/>
          </a:prstGeom>
          <a:noFill/>
        </p:spPr>
        <p:txBody>
          <a:bodyPr wrap="square" lIns="0" tIns="0" rIns="0" bIns="0" rtlCol="0" anchor="ctr"/>
          <a:lstStyle/>
          <a:p>
            <a:pPr marL="0" indent="0" algn="ctr">
              <a:buNone/>
            </a:pPr>
            <a:r>
              <a:rPr lang="en-US" sz="1150" dirty="0">
                <a:solidFill>
                  <a:srgbClr val="5A6472"/>
                </a:solidFill>
                <a:latin typeface="Calibri" panose="020F0502020204030204" pitchFamily="34" charset="0"/>
                <a:ea typeface="Calibri" panose="020F0502020204030204" pitchFamily="34" charset="-122"/>
                <a:cs typeface="Calibri" panose="020F0502020204030204" pitchFamily="34" charset="-120"/>
              </a:rPr>
              <a:t>for the dashboard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p:spPr>
        <p:txBody>
          <a:bodyPr wrap="square" lIns="0" tIns="0" rIns="0" bIns="0" rtlCol="0" anchor="ctr"/>
          <a:lstStyle/>
          <a:p>
            <a:pPr marL="0" indent="0">
              <a:buNone/>
            </a:pPr>
            <a:r>
              <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rPr>
              <a:t>THE DATA</a:t>
            </a:r>
            <a:endPar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txBox="1"/>
          <p:nvPr/>
        </p:nvSpPr>
        <p:spPr>
          <a:xfrm>
            <a:off x="548640" y="713232"/>
            <a:ext cx="9601200" cy="640080"/>
          </a:xfrm>
          <a:prstGeom prst="rect">
            <a:avLst/>
          </a:prstGeom>
          <a:noFill/>
        </p:spPr>
        <p:txBody>
          <a:bodyPr wrap="square" lIns="0" tIns="0" rIns="0" bIns="0" rtlCol="0" anchor="ctr"/>
          <a:lstStyle/>
          <a:p>
            <a:pPr marL="0" indent="0">
              <a:buNone/>
            </a:pPr>
            <a:r>
              <a:rPr lang="en-US" sz="2600" b="1" dirty="0">
                <a:solidFill>
                  <a:srgbClr val="1B2A4A"/>
                </a:solidFill>
                <a:latin typeface="Cambria" panose="02040503050406030204" pitchFamily="34" charset="0"/>
                <a:ea typeface="Cambria" panose="02040503050406030204" pitchFamily="34" charset="-122"/>
                <a:cs typeface="Cambria" panose="02040503050406030204" pitchFamily="34" charset="-120"/>
              </a:rPr>
              <a:t>Dataset Summary</a:t>
            </a:r>
            <a:endParaRPr lang="en-US" sz="2600" dirty="0"/>
          </a:p>
        </p:txBody>
      </p:sp>
      <p:sp>
        <p:nvSpPr>
          <p:cNvPr id="4" name="Shape 2"/>
          <p:cNvSpPr/>
          <p:nvPr/>
        </p:nvSpPr>
        <p:spPr>
          <a:xfrm>
            <a:off x="548640" y="1371600"/>
            <a:ext cx="11064240" cy="0"/>
          </a:xfrm>
          <a:prstGeom prst="line">
            <a:avLst/>
          </a:prstGeom>
          <a:noFill/>
          <a:ln w="12700">
            <a:solidFill>
              <a:srgbClr val="E3E6EC"/>
            </a:solidFill>
            <a:prstDash val="solid"/>
          </a:ln>
        </p:spPr>
      </p:sp>
      <p:sp>
        <p:nvSpPr>
          <p:cNvPr id="5" name="Text 3"/>
          <p:cNvSpPr txBox="1"/>
          <p:nvPr/>
        </p:nvSpPr>
        <p:spPr>
          <a:xfrm>
            <a:off x="548640" y="1600200"/>
            <a:ext cx="7315200" cy="365760"/>
          </a:xfrm>
          <a:prstGeom prst="rect">
            <a:avLst/>
          </a:prstGeom>
          <a:noFill/>
        </p:spPr>
        <p:txBody>
          <a:bodyPr wrap="square" lIns="0" tIns="0" rIns="0" bIns="0" rtlCol="0" anchor="ctr"/>
          <a:lstStyle/>
          <a:p>
            <a:pPr marL="0" indent="0">
              <a:buNone/>
            </a:pPr>
            <a:r>
              <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rPr>
              <a:t>3,900 rows  ·  18 columns</a:t>
            </a:r>
            <a:endPar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548640" y="2148840"/>
            <a:ext cx="73152" cy="685800"/>
          </a:xfrm>
          <a:prstGeom prst="rect">
            <a:avLst/>
          </a:prstGeom>
          <a:solidFill>
            <a:srgbClr val="D6336C"/>
          </a:solidFill>
        </p:spPr>
      </p:sp>
      <p:sp>
        <p:nvSpPr>
          <p:cNvPr id="7" name="Text 5"/>
          <p:cNvSpPr txBox="1"/>
          <p:nvPr/>
        </p:nvSpPr>
        <p:spPr>
          <a:xfrm>
            <a:off x="777240" y="2121408"/>
            <a:ext cx="2743200" cy="365760"/>
          </a:xfrm>
          <a:prstGeom prst="rect">
            <a:avLst/>
          </a:prstGeom>
          <a:noFill/>
        </p:spPr>
        <p:txBody>
          <a:bodyPr wrap="square" lIns="0" tIns="0" rIns="0" bIns="0" rtlCol="0" anchor="ctr"/>
          <a:lstStyle/>
          <a:p>
            <a:pPr marL="0" indent="0">
              <a:buNone/>
            </a:pPr>
            <a:r>
              <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rPr>
              <a:t>Demographics</a:t>
            </a:r>
            <a:endPar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txBox="1"/>
          <p:nvPr/>
        </p:nvSpPr>
        <p:spPr>
          <a:xfrm>
            <a:off x="777240" y="2441448"/>
            <a:ext cx="9875520" cy="457200"/>
          </a:xfrm>
          <a:prstGeom prst="rect">
            <a:avLst/>
          </a:prstGeom>
          <a:noFill/>
        </p:spPr>
        <p:txBody>
          <a:bodyPr wrap="square" lIns="0" tIns="0" rIns="0" bIns="0" rtlCol="0" anchor="ctr"/>
          <a:lstStyle/>
          <a:p>
            <a:pPr marL="0" indent="0">
              <a:buNone/>
            </a:pPr>
            <a:r>
              <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rPr>
              <a:t>Age, Gender, Location, Subscription Status</a:t>
            </a:r>
            <a:endPar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548640" y="3063240"/>
            <a:ext cx="73152" cy="685800"/>
          </a:xfrm>
          <a:prstGeom prst="rect">
            <a:avLst/>
          </a:prstGeom>
          <a:solidFill>
            <a:srgbClr val="D6336C"/>
          </a:solidFill>
        </p:spPr>
      </p:sp>
      <p:sp>
        <p:nvSpPr>
          <p:cNvPr id="10" name="Text 8"/>
          <p:cNvSpPr txBox="1"/>
          <p:nvPr/>
        </p:nvSpPr>
        <p:spPr>
          <a:xfrm>
            <a:off x="777240" y="3035808"/>
            <a:ext cx="2743200" cy="365760"/>
          </a:xfrm>
          <a:prstGeom prst="rect">
            <a:avLst/>
          </a:prstGeom>
          <a:noFill/>
        </p:spPr>
        <p:txBody>
          <a:bodyPr wrap="square" lIns="0" tIns="0" rIns="0" bIns="0" rtlCol="0" anchor="ctr"/>
          <a:lstStyle/>
          <a:p>
            <a:pPr marL="0" indent="0">
              <a:buNone/>
            </a:pPr>
            <a:r>
              <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rPr>
              <a:t>Purchase Details</a:t>
            </a:r>
            <a:endPar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txBox="1"/>
          <p:nvPr/>
        </p:nvSpPr>
        <p:spPr>
          <a:xfrm>
            <a:off x="777240" y="3355848"/>
            <a:ext cx="9875520" cy="457200"/>
          </a:xfrm>
          <a:prstGeom prst="rect">
            <a:avLst/>
          </a:prstGeom>
          <a:noFill/>
        </p:spPr>
        <p:txBody>
          <a:bodyPr wrap="square" lIns="0" tIns="0" rIns="0" bIns="0" rtlCol="0" anchor="ctr"/>
          <a:lstStyle/>
          <a:p>
            <a:pPr marL="0" indent="0">
              <a:buNone/>
            </a:pPr>
            <a:r>
              <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rPr>
              <a:t>Item Purchased, Category, Purchase Amount, Season, Size, Color</a:t>
            </a:r>
            <a:endPar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548640" y="3977640"/>
            <a:ext cx="73152" cy="685800"/>
          </a:xfrm>
          <a:prstGeom prst="rect">
            <a:avLst/>
          </a:prstGeom>
          <a:solidFill>
            <a:srgbClr val="D6336C"/>
          </a:solidFill>
        </p:spPr>
      </p:sp>
      <p:sp>
        <p:nvSpPr>
          <p:cNvPr id="13" name="Text 11"/>
          <p:cNvSpPr txBox="1"/>
          <p:nvPr/>
        </p:nvSpPr>
        <p:spPr>
          <a:xfrm>
            <a:off x="777240" y="3950208"/>
            <a:ext cx="2743200" cy="365760"/>
          </a:xfrm>
          <a:prstGeom prst="rect">
            <a:avLst/>
          </a:prstGeom>
          <a:noFill/>
        </p:spPr>
        <p:txBody>
          <a:bodyPr wrap="square" lIns="0" tIns="0" rIns="0" bIns="0" rtlCol="0" anchor="ctr"/>
          <a:lstStyle/>
          <a:p>
            <a:pPr marL="0" indent="0">
              <a:buNone/>
            </a:pPr>
            <a:r>
              <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rPr>
              <a:t>Shopping Behavior</a:t>
            </a:r>
            <a:endPar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txBox="1"/>
          <p:nvPr/>
        </p:nvSpPr>
        <p:spPr>
          <a:xfrm>
            <a:off x="777240" y="4270248"/>
            <a:ext cx="9875520" cy="457200"/>
          </a:xfrm>
          <a:prstGeom prst="rect">
            <a:avLst/>
          </a:prstGeom>
          <a:noFill/>
        </p:spPr>
        <p:txBody>
          <a:bodyPr wrap="square" lIns="0" tIns="0" rIns="0" bIns="0" rtlCol="0" anchor="ctr"/>
          <a:lstStyle/>
          <a:p>
            <a:pPr marL="0" indent="0">
              <a:buNone/>
            </a:pPr>
            <a:r>
              <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rPr>
              <a:t>Discount Applied, Promo Code Used, Previous Purchases, Frequency of Purchases, Review Rating, Shipping Type</a:t>
            </a:r>
            <a:endPar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txBox="1"/>
          <p:nvPr/>
        </p:nvSpPr>
        <p:spPr>
          <a:xfrm>
            <a:off x="777240" y="5074920"/>
            <a:ext cx="10058400" cy="502920"/>
          </a:xfrm>
          <a:prstGeom prst="rect">
            <a:avLst/>
          </a:prstGeom>
          <a:noFill/>
        </p:spPr>
        <p:txBody>
          <a:bodyPr wrap="square" lIns="0" tIns="0" rIns="0" bIns="0" rtlCol="0" anchor="ctr"/>
          <a:lstStyle/>
          <a:p>
            <a:pPr marL="0" indent="0">
              <a:buNone/>
            </a:pPr>
            <a:r>
              <a:rPr lang="en-US" sz="1600" b="1" i="1" dirty="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Data quality note: 37 missing values found in Review Rating — imputed using the median rating per product category.</a:t>
            </a:r>
            <a:endParaRPr lang="en-US" sz="1600" b="1" i="1" dirty="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endParaRPr>
          </a:p>
        </p:txBody>
      </p:sp>
      <p:pic>
        <p:nvPicPr>
          <p:cNvPr id="17" name="Picture 16" descr="Microsoft_Excel-Logo.wine-removebg-preview (1)"/>
          <p:cNvPicPr>
            <a:picLocks noChangeAspect="1"/>
          </p:cNvPicPr>
          <p:nvPr/>
        </p:nvPicPr>
        <p:blipFill>
          <a:blip r:embed="rId1"/>
          <a:stretch>
            <a:fillRect/>
          </a:stretch>
        </p:blipFill>
        <p:spPr>
          <a:xfrm>
            <a:off x="9519920" y="-111760"/>
            <a:ext cx="2817495" cy="18789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3" name="Picture 22" descr="Python-logo-notext.svg-removebg-preview"/>
          <p:cNvPicPr>
            <a:picLocks noChangeAspect="1"/>
          </p:cNvPicPr>
          <p:nvPr>
            <p:custDataLst>
              <p:tags r:id="rId1"/>
            </p:custDataLst>
          </p:nvPr>
        </p:nvPicPr>
        <p:blipFill>
          <a:blip r:embed="rId2"/>
          <a:stretch>
            <a:fillRect/>
          </a:stretch>
        </p:blipFill>
        <p:spPr>
          <a:xfrm>
            <a:off x="10144760" y="109855"/>
            <a:ext cx="1364615" cy="1364615"/>
          </a:xfrm>
          <a:prstGeom prst="rect">
            <a:avLst/>
          </a:prstGeom>
        </p:spPr>
      </p:pic>
      <p:sp>
        <p:nvSpPr>
          <p:cNvPr id="2" name="Text 0"/>
          <p:cNvSpPr txBox="1"/>
          <p:nvPr/>
        </p:nvSpPr>
        <p:spPr>
          <a:xfrm>
            <a:off x="548640" y="411480"/>
            <a:ext cx="7315200" cy="320040"/>
          </a:xfrm>
          <a:prstGeom prst="rect">
            <a:avLst/>
          </a:prstGeom>
          <a:noFill/>
        </p:spPr>
        <p:txBody>
          <a:bodyPr wrap="square" lIns="0" tIns="0" rIns="0" bIns="0" rtlCol="0" anchor="ctr"/>
          <a:lstStyle/>
          <a:p>
            <a:pPr marL="0" indent="0">
              <a:buNone/>
            </a:pPr>
            <a:r>
              <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rPr>
              <a:t>STEP 1</a:t>
            </a:r>
            <a:endPar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txBox="1"/>
          <p:nvPr/>
        </p:nvSpPr>
        <p:spPr>
          <a:xfrm>
            <a:off x="548640" y="713232"/>
            <a:ext cx="9601200" cy="640080"/>
          </a:xfrm>
          <a:prstGeom prst="rect">
            <a:avLst/>
          </a:prstGeom>
          <a:noFill/>
        </p:spPr>
        <p:txBody>
          <a:bodyPr wrap="square" lIns="0" tIns="0" rIns="0" bIns="0" rtlCol="0" anchor="ctr"/>
          <a:lstStyle/>
          <a:p>
            <a:pPr marL="0" indent="0">
              <a:buNone/>
            </a:pPr>
            <a:r>
              <a:rPr lang="en-US" sz="2600" b="1" dirty="0">
                <a:solidFill>
                  <a:srgbClr val="1B2A4A"/>
                </a:solidFill>
                <a:latin typeface="Cambria" panose="02040503050406030204" pitchFamily="34" charset="0"/>
                <a:ea typeface="Cambria" panose="02040503050406030204" pitchFamily="34" charset="-122"/>
                <a:cs typeface="Cambria" panose="02040503050406030204" pitchFamily="34" charset="-120"/>
              </a:rPr>
              <a:t>Data Preparation in Python</a:t>
            </a:r>
            <a:endParaRPr lang="en-US" sz="2600" dirty="0"/>
          </a:p>
        </p:txBody>
      </p:sp>
      <p:sp>
        <p:nvSpPr>
          <p:cNvPr id="4" name="Shape 2"/>
          <p:cNvSpPr/>
          <p:nvPr/>
        </p:nvSpPr>
        <p:spPr>
          <a:xfrm>
            <a:off x="548640" y="1371600"/>
            <a:ext cx="11064240" cy="0"/>
          </a:xfrm>
          <a:prstGeom prst="line">
            <a:avLst/>
          </a:prstGeom>
          <a:noFill/>
          <a:ln w="12700">
            <a:solidFill>
              <a:srgbClr val="E3E6EC"/>
            </a:solidFill>
            <a:prstDash val="solid"/>
          </a:ln>
        </p:spPr>
      </p:sp>
      <p:sp>
        <p:nvSpPr>
          <p:cNvPr id="5" name="Shape 3"/>
          <p:cNvSpPr/>
          <p:nvPr>
            <p:custDataLst>
              <p:tags r:id="rId3"/>
            </p:custDataLst>
          </p:nvPr>
        </p:nvSpPr>
        <p:spPr>
          <a:xfrm>
            <a:off x="548640" y="1737360"/>
            <a:ext cx="310896" cy="310896"/>
          </a:xfrm>
          <a:prstGeom prst="ellipse">
            <a:avLst/>
          </a:prstGeom>
          <a:solidFill>
            <a:srgbClr val="1B2A4A"/>
          </a:solidFill>
        </p:spPr>
      </p:sp>
      <p:sp>
        <p:nvSpPr>
          <p:cNvPr id="6" name="Text 4"/>
          <p:cNvSpPr txBox="1"/>
          <p:nvPr>
            <p:custDataLst>
              <p:tags r:id="rId4"/>
            </p:custDataLst>
          </p:nvPr>
        </p:nvSpPr>
        <p:spPr>
          <a:xfrm>
            <a:off x="548640" y="1737360"/>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7" name="Text 5"/>
          <p:cNvSpPr txBox="1"/>
          <p:nvPr>
            <p:custDataLst>
              <p:tags r:id="rId5"/>
            </p:custDataLst>
          </p:nvPr>
        </p:nvSpPr>
        <p:spPr>
          <a:xfrm>
            <a:off x="1051560" y="1682496"/>
            <a:ext cx="10058400" cy="457200"/>
          </a:xfrm>
          <a:prstGeom prst="rect">
            <a:avLst/>
          </a:prstGeom>
          <a:noFill/>
        </p:spPr>
        <p:txBody>
          <a:bodyPr wrap="square" lIns="0" tIns="0" rIns="0" bIns="0" rtlCol="0" anchor="ctr"/>
          <a:lstStyle/>
          <a:p>
            <a:pPr marL="0" indent="0">
              <a:buNone/>
            </a:pPr>
            <a:r>
              <a:rPr lang="en-US" sz="1600" dirty="0">
                <a:solidFill>
                  <a:srgbClr val="333333"/>
                </a:solidFill>
                <a:latin typeface="Calibri" panose="020F0502020204030204" pitchFamily="34" charset="0"/>
                <a:ea typeface="Calibri" panose="020F0502020204030204" pitchFamily="34" charset="-122"/>
                <a:cs typeface="Calibri" panose="020F0502020204030204" pitchFamily="34" charset="-120"/>
              </a:rPr>
              <a:t>Loaded the dataset with pandas; used df.info() and .describe() for initial structure and summary statistics</a:t>
            </a:r>
            <a:endParaRPr lang="en-US" sz="1600" dirty="0">
              <a:solidFill>
                <a:srgbClr val="333333"/>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custDataLst>
              <p:tags r:id="rId6"/>
            </p:custDataLst>
          </p:nvPr>
        </p:nvSpPr>
        <p:spPr>
          <a:xfrm>
            <a:off x="548640" y="2377440"/>
            <a:ext cx="310896" cy="310896"/>
          </a:xfrm>
          <a:prstGeom prst="ellipse">
            <a:avLst/>
          </a:prstGeom>
          <a:solidFill>
            <a:srgbClr val="1B2A4A"/>
          </a:solidFill>
        </p:spPr>
      </p:sp>
      <p:sp>
        <p:nvSpPr>
          <p:cNvPr id="9" name="Text 7"/>
          <p:cNvSpPr txBox="1"/>
          <p:nvPr>
            <p:custDataLst>
              <p:tags r:id="rId7"/>
            </p:custDataLst>
          </p:nvPr>
        </p:nvSpPr>
        <p:spPr>
          <a:xfrm>
            <a:off x="548640" y="2377440"/>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10" name="Text 8"/>
          <p:cNvSpPr txBox="1"/>
          <p:nvPr>
            <p:custDataLst>
              <p:tags r:id="rId8"/>
            </p:custDataLst>
          </p:nvPr>
        </p:nvSpPr>
        <p:spPr>
          <a:xfrm>
            <a:off x="1051560" y="2322576"/>
            <a:ext cx="10058400" cy="457200"/>
          </a:xfrm>
          <a:prstGeom prst="rect">
            <a:avLst/>
          </a:prstGeom>
          <a:noFill/>
        </p:spPr>
        <p:txBody>
          <a:bodyPr wrap="square" lIns="0" tIns="0" rIns="0" bIns="0" rtlCol="0" anchor="ctr"/>
          <a:lstStyle/>
          <a:p>
            <a:pPr marL="0" indent="0">
              <a:buNone/>
            </a:pPr>
            <a:r>
              <a:rPr lang="en-US" sz="1600" dirty="0">
                <a:solidFill>
                  <a:srgbClr val="333333"/>
                </a:solidFill>
                <a:latin typeface="Calibri" panose="020F0502020204030204" pitchFamily="34" charset="0"/>
                <a:ea typeface="Calibri" panose="020F0502020204030204" pitchFamily="34" charset="-122"/>
                <a:cs typeface="Calibri" panose="020F0502020204030204" pitchFamily="34" charset="-120"/>
              </a:rPr>
              <a:t>Handled missing values — imputed Review Rating nulls using the median rating per product category</a:t>
            </a:r>
            <a:endParaRPr lang="en-US" sz="1600" dirty="0">
              <a:solidFill>
                <a:srgbClr val="333333"/>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custDataLst>
              <p:tags r:id="rId9"/>
            </p:custDataLst>
          </p:nvPr>
        </p:nvSpPr>
        <p:spPr>
          <a:xfrm>
            <a:off x="548640" y="3017520"/>
            <a:ext cx="310896" cy="310896"/>
          </a:xfrm>
          <a:prstGeom prst="ellipse">
            <a:avLst/>
          </a:prstGeom>
          <a:solidFill>
            <a:srgbClr val="1B2A4A"/>
          </a:solidFill>
        </p:spPr>
      </p:sp>
      <p:sp>
        <p:nvSpPr>
          <p:cNvPr id="12" name="Text 10"/>
          <p:cNvSpPr txBox="1"/>
          <p:nvPr>
            <p:custDataLst>
              <p:tags r:id="rId10"/>
            </p:custDataLst>
          </p:nvPr>
        </p:nvSpPr>
        <p:spPr>
          <a:xfrm>
            <a:off x="548640" y="3017520"/>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13" name="Text 11"/>
          <p:cNvSpPr txBox="1"/>
          <p:nvPr>
            <p:custDataLst>
              <p:tags r:id="rId11"/>
            </p:custDataLst>
          </p:nvPr>
        </p:nvSpPr>
        <p:spPr>
          <a:xfrm>
            <a:off x="1051560" y="2962656"/>
            <a:ext cx="10058400" cy="457200"/>
          </a:xfrm>
          <a:prstGeom prst="rect">
            <a:avLst/>
          </a:prstGeom>
          <a:noFill/>
        </p:spPr>
        <p:txBody>
          <a:bodyPr wrap="square" lIns="0" tIns="0" rIns="0" bIns="0" rtlCol="0" anchor="ctr"/>
          <a:lstStyle/>
          <a:p>
            <a:pPr marL="0" indent="0">
              <a:buNone/>
            </a:pPr>
            <a:r>
              <a:rPr lang="en-US" sz="1600" dirty="0">
                <a:solidFill>
                  <a:srgbClr val="333333"/>
                </a:solidFill>
                <a:latin typeface="Calibri" panose="020F0502020204030204" pitchFamily="34" charset="0"/>
                <a:ea typeface="Calibri" panose="020F0502020204030204" pitchFamily="34" charset="-122"/>
                <a:cs typeface="Calibri" panose="020F0502020204030204" pitchFamily="34" charset="-120"/>
              </a:rPr>
              <a:t>Standardized all column names to snake_case for readability and consistency</a:t>
            </a:r>
            <a:endParaRPr lang="en-US" sz="1600" dirty="0">
              <a:solidFill>
                <a:srgbClr val="333333"/>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custDataLst>
              <p:tags r:id="rId12"/>
            </p:custDataLst>
          </p:nvPr>
        </p:nvSpPr>
        <p:spPr>
          <a:xfrm>
            <a:off x="548640" y="3657600"/>
            <a:ext cx="310896" cy="310896"/>
          </a:xfrm>
          <a:prstGeom prst="ellipse">
            <a:avLst/>
          </a:prstGeom>
          <a:solidFill>
            <a:srgbClr val="1B2A4A"/>
          </a:solidFill>
        </p:spPr>
      </p:sp>
      <p:sp>
        <p:nvSpPr>
          <p:cNvPr id="15" name="Text 13"/>
          <p:cNvSpPr txBox="1"/>
          <p:nvPr>
            <p:custDataLst>
              <p:tags r:id="rId13"/>
            </p:custDataLst>
          </p:nvPr>
        </p:nvSpPr>
        <p:spPr>
          <a:xfrm>
            <a:off x="548640" y="3657600"/>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16" name="Text 14"/>
          <p:cNvSpPr txBox="1"/>
          <p:nvPr>
            <p:custDataLst>
              <p:tags r:id="rId14"/>
            </p:custDataLst>
          </p:nvPr>
        </p:nvSpPr>
        <p:spPr>
          <a:xfrm>
            <a:off x="1051560" y="3602736"/>
            <a:ext cx="10058400" cy="457200"/>
          </a:xfrm>
          <a:prstGeom prst="rect">
            <a:avLst/>
          </a:prstGeom>
          <a:noFill/>
        </p:spPr>
        <p:txBody>
          <a:bodyPr wrap="square" lIns="0" tIns="0" rIns="0" bIns="0" rtlCol="0" anchor="ctr"/>
          <a:lstStyle/>
          <a:p>
            <a:pPr marL="0" indent="0">
              <a:buNone/>
            </a:pPr>
            <a:r>
              <a:rPr lang="en-US" sz="1600" dirty="0">
                <a:solidFill>
                  <a:srgbClr val="333333"/>
                </a:solidFill>
                <a:latin typeface="Calibri" panose="020F0502020204030204" pitchFamily="34" charset="0"/>
                <a:ea typeface="Calibri" panose="020F0502020204030204" pitchFamily="34" charset="-122"/>
                <a:cs typeface="Calibri" panose="020F0502020204030204" pitchFamily="34" charset="-120"/>
              </a:rPr>
              <a:t>Engineered new features: age_group (binned ages) and purchase_frequency_days</a:t>
            </a:r>
            <a:endParaRPr lang="en-US" sz="1600" dirty="0">
              <a:solidFill>
                <a:srgbClr val="333333"/>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custDataLst>
              <p:tags r:id="rId15"/>
            </p:custDataLst>
          </p:nvPr>
        </p:nvSpPr>
        <p:spPr>
          <a:xfrm>
            <a:off x="548640" y="4297680"/>
            <a:ext cx="310896" cy="310896"/>
          </a:xfrm>
          <a:prstGeom prst="ellipse">
            <a:avLst/>
          </a:prstGeom>
          <a:solidFill>
            <a:srgbClr val="1B2A4A"/>
          </a:solidFill>
        </p:spPr>
      </p:sp>
      <p:sp>
        <p:nvSpPr>
          <p:cNvPr id="18" name="Text 16"/>
          <p:cNvSpPr txBox="1"/>
          <p:nvPr>
            <p:custDataLst>
              <p:tags r:id="rId16"/>
            </p:custDataLst>
          </p:nvPr>
        </p:nvSpPr>
        <p:spPr>
          <a:xfrm>
            <a:off x="548640" y="4297680"/>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200" dirty="0"/>
          </a:p>
        </p:txBody>
      </p:sp>
      <p:sp>
        <p:nvSpPr>
          <p:cNvPr id="19" name="Text 17"/>
          <p:cNvSpPr txBox="1"/>
          <p:nvPr>
            <p:custDataLst>
              <p:tags r:id="rId17"/>
            </p:custDataLst>
          </p:nvPr>
        </p:nvSpPr>
        <p:spPr>
          <a:xfrm>
            <a:off x="1051560" y="4242816"/>
            <a:ext cx="10058400" cy="457200"/>
          </a:xfrm>
          <a:prstGeom prst="rect">
            <a:avLst/>
          </a:prstGeom>
          <a:noFill/>
        </p:spPr>
        <p:txBody>
          <a:bodyPr wrap="square" lIns="0" tIns="0" rIns="0" bIns="0" rtlCol="0" anchor="ctr"/>
          <a:lstStyle/>
          <a:p>
            <a:pPr marL="0" indent="0">
              <a:buNone/>
            </a:pPr>
            <a:r>
              <a:rPr lang="en-US" sz="1600" dirty="0">
                <a:solidFill>
                  <a:srgbClr val="333333"/>
                </a:solidFill>
                <a:latin typeface="Calibri" panose="020F0502020204030204" pitchFamily="34" charset="0"/>
                <a:ea typeface="Calibri" panose="020F0502020204030204" pitchFamily="34" charset="-122"/>
                <a:cs typeface="Calibri" panose="020F0502020204030204" pitchFamily="34" charset="-120"/>
              </a:rPr>
              <a:t>Checked for redundancy between discount_applied and promo_code_used; dropped the redundant column</a:t>
            </a:r>
            <a:endParaRPr lang="en-US" sz="1600" dirty="0">
              <a:solidFill>
                <a:srgbClr val="333333"/>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custDataLst>
              <p:tags r:id="rId18"/>
            </p:custDataLst>
          </p:nvPr>
        </p:nvSpPr>
        <p:spPr>
          <a:xfrm>
            <a:off x="548640" y="4937760"/>
            <a:ext cx="310896" cy="310896"/>
          </a:xfrm>
          <a:prstGeom prst="ellipse">
            <a:avLst/>
          </a:prstGeom>
          <a:solidFill>
            <a:srgbClr val="1B2A4A"/>
          </a:solidFill>
        </p:spPr>
      </p:sp>
      <p:sp>
        <p:nvSpPr>
          <p:cNvPr id="21" name="Text 19"/>
          <p:cNvSpPr txBox="1"/>
          <p:nvPr>
            <p:custDataLst>
              <p:tags r:id="rId19"/>
            </p:custDataLst>
          </p:nvPr>
        </p:nvSpPr>
        <p:spPr>
          <a:xfrm>
            <a:off x="548640" y="4937760"/>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200" dirty="0"/>
          </a:p>
        </p:txBody>
      </p:sp>
      <p:sp>
        <p:nvSpPr>
          <p:cNvPr id="22" name="Text 20"/>
          <p:cNvSpPr txBox="1"/>
          <p:nvPr>
            <p:custDataLst>
              <p:tags r:id="rId20"/>
            </p:custDataLst>
          </p:nvPr>
        </p:nvSpPr>
        <p:spPr>
          <a:xfrm>
            <a:off x="1051560" y="4882896"/>
            <a:ext cx="10058400" cy="457200"/>
          </a:xfrm>
          <a:prstGeom prst="rect">
            <a:avLst/>
          </a:prstGeom>
          <a:noFill/>
        </p:spPr>
        <p:txBody>
          <a:bodyPr wrap="square" lIns="0" tIns="0" rIns="0" bIns="0" rtlCol="0" anchor="ctr"/>
          <a:lstStyle/>
          <a:p>
            <a:pPr marL="0" indent="0">
              <a:buNone/>
            </a:pPr>
            <a:r>
              <a:rPr lang="en-US" sz="1600" dirty="0">
                <a:solidFill>
                  <a:srgbClr val="333333"/>
                </a:solidFill>
                <a:latin typeface="Calibri" panose="020F0502020204030204" pitchFamily="34" charset="0"/>
                <a:ea typeface="Calibri" panose="020F0502020204030204" pitchFamily="34" charset="-122"/>
                <a:cs typeface="Calibri" panose="020F0502020204030204" pitchFamily="34" charset="-120"/>
              </a:rPr>
              <a:t>Connected the cleaned DataFrame to PostgreSQL for structured SQL analysis</a:t>
            </a:r>
            <a:endParaRPr lang="en-US" sz="1600" dirty="0">
              <a:solidFill>
                <a:srgbClr val="333333"/>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p:spPr>
        <p:txBody>
          <a:bodyPr wrap="square" lIns="0" tIns="0" rIns="0" bIns="0" rtlCol="0" anchor="ctr"/>
          <a:lstStyle/>
          <a:p>
            <a:pPr marL="0" indent="0">
              <a:buNone/>
            </a:pPr>
            <a:r>
              <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rPr>
              <a:t>STEP 2</a:t>
            </a:r>
            <a:endPar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txBox="1"/>
          <p:nvPr/>
        </p:nvSpPr>
        <p:spPr>
          <a:xfrm>
            <a:off x="548640" y="713232"/>
            <a:ext cx="9601200" cy="640080"/>
          </a:xfrm>
          <a:prstGeom prst="rect">
            <a:avLst/>
          </a:prstGeom>
          <a:noFill/>
        </p:spPr>
        <p:txBody>
          <a:bodyPr wrap="square" lIns="0" tIns="0" rIns="0" bIns="0" rtlCol="0" anchor="ctr"/>
          <a:lstStyle/>
          <a:p>
            <a:pPr marL="0" indent="0">
              <a:buNone/>
            </a:pPr>
            <a:r>
              <a:rPr lang="en-US" sz="2600" b="1" dirty="0">
                <a:solidFill>
                  <a:srgbClr val="1B2A4A"/>
                </a:solidFill>
                <a:latin typeface="Cambria" panose="02040503050406030204" pitchFamily="34" charset="0"/>
                <a:ea typeface="Cambria" panose="02040503050406030204" pitchFamily="34" charset="-122"/>
                <a:cs typeface="Cambria" panose="02040503050406030204" pitchFamily="34" charset="-120"/>
              </a:rPr>
              <a:t>SQL Analysis — Key Findings</a:t>
            </a:r>
            <a:endParaRPr lang="en-US" sz="2600" dirty="0"/>
          </a:p>
        </p:txBody>
      </p:sp>
      <p:sp>
        <p:nvSpPr>
          <p:cNvPr id="4" name="Shape 2"/>
          <p:cNvSpPr/>
          <p:nvPr/>
        </p:nvSpPr>
        <p:spPr>
          <a:xfrm>
            <a:off x="548640" y="1371600"/>
            <a:ext cx="11064240" cy="0"/>
          </a:xfrm>
          <a:prstGeom prst="line">
            <a:avLst/>
          </a:prstGeom>
          <a:noFill/>
          <a:ln w="12700">
            <a:solidFill>
              <a:srgbClr val="E3E6EC"/>
            </a:solidFill>
            <a:prstDash val="solid"/>
          </a:ln>
        </p:spPr>
      </p:sp>
      <p:sp>
        <p:nvSpPr>
          <p:cNvPr id="5" name="Shape 3"/>
          <p:cNvSpPr/>
          <p:nvPr>
            <p:custDataLst>
              <p:tags r:id="rId1"/>
            </p:custDataLst>
          </p:nvPr>
        </p:nvSpPr>
        <p:spPr>
          <a:xfrm>
            <a:off x="548640" y="1691640"/>
            <a:ext cx="5166360" cy="1234440"/>
          </a:xfrm>
          <a:prstGeom prst="rect">
            <a:avLst/>
          </a:prstGeom>
          <a:solidFill>
            <a:srgbClr val="FAFAFB"/>
          </a:solidFill>
          <a:ln w="12700">
            <a:solidFill>
              <a:srgbClr val="E3E6EC"/>
            </a:solidFill>
            <a:prstDash val="solid"/>
          </a:ln>
        </p:spPr>
      </p:sp>
      <p:sp>
        <p:nvSpPr>
          <p:cNvPr id="6" name="Text 4"/>
          <p:cNvSpPr txBox="1"/>
          <p:nvPr>
            <p:custDataLst>
              <p:tags r:id="rId2"/>
            </p:custDataLst>
          </p:nvPr>
        </p:nvSpPr>
        <p:spPr>
          <a:xfrm>
            <a:off x="777240" y="1828800"/>
            <a:ext cx="4709160" cy="365760"/>
          </a:xfrm>
          <a:prstGeom prst="rect">
            <a:avLst/>
          </a:prstGeom>
          <a:noFill/>
        </p:spPr>
        <p:txBody>
          <a:bodyPr wrap="square" lIns="0" tIns="0" rIns="0" bIns="0" rtlCol="0" anchor="ctr"/>
          <a:lstStyle/>
          <a:p>
            <a:pPr marL="0" indent="0">
              <a:buNone/>
            </a:pPr>
            <a:r>
              <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rPr>
              <a:t>Revenue by Gender</a:t>
            </a:r>
            <a:endPar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5"/>
          <p:cNvSpPr txBox="1"/>
          <p:nvPr>
            <p:custDataLst>
              <p:tags r:id="rId3"/>
            </p:custDataLst>
          </p:nvPr>
        </p:nvSpPr>
        <p:spPr>
          <a:xfrm>
            <a:off x="777240" y="2221992"/>
            <a:ext cx="4709160" cy="594360"/>
          </a:xfrm>
          <a:prstGeom prst="rect">
            <a:avLst/>
          </a:prstGeom>
          <a:noFill/>
        </p:spPr>
        <p:txBody>
          <a:bodyPr wrap="square" lIns="0" tIns="0" rIns="0" bIns="0" rtlCol="0" anchor="ctr"/>
          <a:lstStyle/>
          <a:p>
            <a:pPr marL="0" indent="0">
              <a:buNone/>
            </a:pPr>
            <a:r>
              <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rPr>
              <a:t>Male $157,890  vs  Female $75,191</a:t>
            </a:r>
            <a:endPar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custDataLst>
              <p:tags r:id="rId4"/>
            </p:custDataLst>
          </p:nvPr>
        </p:nvSpPr>
        <p:spPr>
          <a:xfrm>
            <a:off x="5989320" y="1691640"/>
            <a:ext cx="5166360" cy="1234440"/>
          </a:xfrm>
          <a:prstGeom prst="rect">
            <a:avLst/>
          </a:prstGeom>
          <a:solidFill>
            <a:srgbClr val="FAFAFB"/>
          </a:solidFill>
          <a:ln w="12700">
            <a:solidFill>
              <a:srgbClr val="E3E6EC"/>
            </a:solidFill>
            <a:prstDash val="solid"/>
          </a:ln>
        </p:spPr>
      </p:sp>
      <p:sp>
        <p:nvSpPr>
          <p:cNvPr id="9" name="Text 7"/>
          <p:cNvSpPr txBox="1"/>
          <p:nvPr>
            <p:custDataLst>
              <p:tags r:id="rId5"/>
            </p:custDataLst>
          </p:nvPr>
        </p:nvSpPr>
        <p:spPr>
          <a:xfrm>
            <a:off x="6217920" y="1828800"/>
            <a:ext cx="4709160" cy="365760"/>
          </a:xfrm>
          <a:prstGeom prst="rect">
            <a:avLst/>
          </a:prstGeom>
          <a:noFill/>
        </p:spPr>
        <p:txBody>
          <a:bodyPr wrap="square" lIns="0" tIns="0" rIns="0" bIns="0" rtlCol="0" anchor="ctr"/>
          <a:lstStyle/>
          <a:p>
            <a:pPr marL="0" indent="0">
              <a:buNone/>
            </a:pPr>
            <a:r>
              <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rPr>
              <a:t>Subscribers vs Non-Subscribers</a:t>
            </a:r>
            <a:endPar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txBox="1"/>
          <p:nvPr>
            <p:custDataLst>
              <p:tags r:id="rId6"/>
            </p:custDataLst>
          </p:nvPr>
        </p:nvSpPr>
        <p:spPr>
          <a:xfrm>
            <a:off x="6217920" y="2221992"/>
            <a:ext cx="4709160" cy="594360"/>
          </a:xfrm>
          <a:prstGeom prst="rect">
            <a:avLst/>
          </a:prstGeom>
          <a:noFill/>
        </p:spPr>
        <p:txBody>
          <a:bodyPr wrap="square" lIns="0" tIns="0" rIns="0" bIns="0" rtlCol="0" anchor="ctr"/>
          <a:lstStyle/>
          <a:p>
            <a:pPr marL="0" indent="0">
              <a:buNone/>
            </a:pPr>
            <a:r>
              <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rPr>
              <a:t>Non-subscribers drive $170,436 vs $62,645</a:t>
            </a:r>
            <a:endPar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custDataLst>
              <p:tags r:id="rId7"/>
            </p:custDataLst>
          </p:nvPr>
        </p:nvSpPr>
        <p:spPr>
          <a:xfrm>
            <a:off x="548640" y="3108960"/>
            <a:ext cx="5166360" cy="1234440"/>
          </a:xfrm>
          <a:prstGeom prst="rect">
            <a:avLst/>
          </a:prstGeom>
          <a:solidFill>
            <a:srgbClr val="FAFAFB"/>
          </a:solidFill>
          <a:ln w="12700">
            <a:solidFill>
              <a:srgbClr val="E3E6EC"/>
            </a:solidFill>
            <a:prstDash val="solid"/>
          </a:ln>
        </p:spPr>
      </p:sp>
      <p:sp>
        <p:nvSpPr>
          <p:cNvPr id="12" name="Text 10"/>
          <p:cNvSpPr txBox="1"/>
          <p:nvPr>
            <p:custDataLst>
              <p:tags r:id="rId8"/>
            </p:custDataLst>
          </p:nvPr>
        </p:nvSpPr>
        <p:spPr>
          <a:xfrm>
            <a:off x="777240" y="3246120"/>
            <a:ext cx="4709160" cy="365760"/>
          </a:xfrm>
          <a:prstGeom prst="rect">
            <a:avLst/>
          </a:prstGeom>
          <a:noFill/>
        </p:spPr>
        <p:txBody>
          <a:bodyPr wrap="square" lIns="0" tIns="0" rIns="0" bIns="0" rtlCol="0" anchor="ctr"/>
          <a:lstStyle/>
          <a:p>
            <a:pPr marL="0" indent="0">
              <a:buNone/>
            </a:pPr>
            <a:r>
              <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rPr>
              <a:t>Customer Segmentation</a:t>
            </a:r>
            <a:endPar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txBox="1"/>
          <p:nvPr>
            <p:custDataLst>
              <p:tags r:id="rId9"/>
            </p:custDataLst>
          </p:nvPr>
        </p:nvSpPr>
        <p:spPr>
          <a:xfrm>
            <a:off x="777240" y="3639312"/>
            <a:ext cx="4709160" cy="594360"/>
          </a:xfrm>
          <a:prstGeom prst="rect">
            <a:avLst/>
          </a:prstGeom>
          <a:noFill/>
        </p:spPr>
        <p:txBody>
          <a:bodyPr wrap="square" lIns="0" tIns="0" rIns="0" bIns="0" rtlCol="0" anchor="ctr"/>
          <a:lstStyle/>
          <a:p>
            <a:pPr marL="0" indent="0">
              <a:buNone/>
            </a:pPr>
            <a:r>
              <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rPr>
              <a:t>Loyal 3,116  ·  Returning 701  ·  New 83</a:t>
            </a:r>
            <a:endPar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custDataLst>
              <p:tags r:id="rId10"/>
            </p:custDataLst>
          </p:nvPr>
        </p:nvSpPr>
        <p:spPr>
          <a:xfrm>
            <a:off x="5989320" y="3108960"/>
            <a:ext cx="5166360" cy="1234440"/>
          </a:xfrm>
          <a:prstGeom prst="rect">
            <a:avLst/>
          </a:prstGeom>
          <a:solidFill>
            <a:srgbClr val="FAFAFB"/>
          </a:solidFill>
          <a:ln w="12700">
            <a:solidFill>
              <a:srgbClr val="E3E6EC"/>
            </a:solidFill>
            <a:prstDash val="solid"/>
          </a:ln>
        </p:spPr>
      </p:sp>
      <p:sp>
        <p:nvSpPr>
          <p:cNvPr id="15" name="Text 13"/>
          <p:cNvSpPr txBox="1"/>
          <p:nvPr>
            <p:custDataLst>
              <p:tags r:id="rId11"/>
            </p:custDataLst>
          </p:nvPr>
        </p:nvSpPr>
        <p:spPr>
          <a:xfrm>
            <a:off x="6217920" y="3246120"/>
            <a:ext cx="4709160" cy="365760"/>
          </a:xfrm>
          <a:prstGeom prst="rect">
            <a:avLst/>
          </a:prstGeom>
          <a:noFill/>
        </p:spPr>
        <p:txBody>
          <a:bodyPr wrap="square" lIns="0" tIns="0" rIns="0" bIns="0" rtlCol="0" anchor="ctr"/>
          <a:lstStyle/>
          <a:p>
            <a:pPr marL="0" indent="0">
              <a:buNone/>
            </a:pPr>
            <a:r>
              <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rPr>
              <a:t>Repeat Buyers &amp; Subscriptions</a:t>
            </a:r>
            <a:endPar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txBox="1"/>
          <p:nvPr>
            <p:custDataLst>
              <p:tags r:id="rId12"/>
            </p:custDataLst>
          </p:nvPr>
        </p:nvSpPr>
        <p:spPr>
          <a:xfrm>
            <a:off x="6217920" y="3639312"/>
            <a:ext cx="4709160" cy="594360"/>
          </a:xfrm>
          <a:prstGeom prst="rect">
            <a:avLst/>
          </a:prstGeom>
          <a:noFill/>
        </p:spPr>
        <p:txBody>
          <a:bodyPr wrap="square" lIns="0" tIns="0" rIns="0" bIns="0" rtlCol="0" anchor="ctr"/>
          <a:lstStyle/>
          <a:p>
            <a:pPr marL="0" indent="0">
              <a:buNone/>
            </a:pPr>
            <a:r>
              <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rPr>
              <a:t>958 subscribed vs 2,518 did not, among repeat buyers</a:t>
            </a:r>
            <a:endPar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custDataLst>
              <p:tags r:id="rId13"/>
            </p:custDataLst>
          </p:nvPr>
        </p:nvSpPr>
        <p:spPr>
          <a:xfrm>
            <a:off x="548640" y="4526280"/>
            <a:ext cx="5166360" cy="1234440"/>
          </a:xfrm>
          <a:prstGeom prst="rect">
            <a:avLst/>
          </a:prstGeom>
          <a:solidFill>
            <a:srgbClr val="FAFAFB"/>
          </a:solidFill>
          <a:ln w="12700">
            <a:solidFill>
              <a:srgbClr val="E3E6EC"/>
            </a:solidFill>
            <a:prstDash val="solid"/>
          </a:ln>
        </p:spPr>
      </p:sp>
      <p:sp>
        <p:nvSpPr>
          <p:cNvPr id="18" name="Text 16"/>
          <p:cNvSpPr txBox="1"/>
          <p:nvPr>
            <p:custDataLst>
              <p:tags r:id="rId14"/>
            </p:custDataLst>
          </p:nvPr>
        </p:nvSpPr>
        <p:spPr>
          <a:xfrm>
            <a:off x="777240" y="4663440"/>
            <a:ext cx="4709160" cy="365760"/>
          </a:xfrm>
          <a:prstGeom prst="rect">
            <a:avLst/>
          </a:prstGeom>
          <a:noFill/>
        </p:spPr>
        <p:txBody>
          <a:bodyPr wrap="square" lIns="0" tIns="0" rIns="0" bIns="0" rtlCol="0" anchor="ctr"/>
          <a:lstStyle/>
          <a:p>
            <a:pPr marL="0" indent="0">
              <a:buNone/>
            </a:pPr>
            <a:r>
              <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rPr>
              <a:t>Top-Rated Products</a:t>
            </a:r>
            <a:endPar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txBox="1"/>
          <p:nvPr>
            <p:custDataLst>
              <p:tags r:id="rId15"/>
            </p:custDataLst>
          </p:nvPr>
        </p:nvSpPr>
        <p:spPr>
          <a:xfrm>
            <a:off x="777240" y="5056632"/>
            <a:ext cx="4709160" cy="594360"/>
          </a:xfrm>
          <a:prstGeom prst="rect">
            <a:avLst/>
          </a:prstGeom>
          <a:noFill/>
        </p:spPr>
        <p:txBody>
          <a:bodyPr wrap="square" lIns="0" tIns="0" rIns="0" bIns="0" rtlCol="0" anchor="ctr"/>
          <a:lstStyle/>
          <a:p>
            <a:pPr marL="0" indent="0">
              <a:buNone/>
            </a:pPr>
            <a:r>
              <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rPr>
              <a:t>Gloves (3.86), Sandals (3.84), Boots (3.82)</a:t>
            </a:r>
            <a:endPar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custDataLst>
              <p:tags r:id="rId16"/>
            </p:custDataLst>
          </p:nvPr>
        </p:nvSpPr>
        <p:spPr>
          <a:xfrm>
            <a:off x="5989320" y="4526280"/>
            <a:ext cx="5166360" cy="1234440"/>
          </a:xfrm>
          <a:prstGeom prst="rect">
            <a:avLst/>
          </a:prstGeom>
          <a:solidFill>
            <a:srgbClr val="FAFAFB"/>
          </a:solidFill>
          <a:ln w="12700">
            <a:solidFill>
              <a:srgbClr val="E3E6EC"/>
            </a:solidFill>
            <a:prstDash val="solid"/>
          </a:ln>
        </p:spPr>
      </p:sp>
      <p:sp>
        <p:nvSpPr>
          <p:cNvPr id="21" name="Text 19"/>
          <p:cNvSpPr txBox="1"/>
          <p:nvPr>
            <p:custDataLst>
              <p:tags r:id="rId17"/>
            </p:custDataLst>
          </p:nvPr>
        </p:nvSpPr>
        <p:spPr>
          <a:xfrm>
            <a:off x="6217920" y="4663440"/>
            <a:ext cx="4709160" cy="365760"/>
          </a:xfrm>
          <a:prstGeom prst="rect">
            <a:avLst/>
          </a:prstGeom>
          <a:noFill/>
        </p:spPr>
        <p:txBody>
          <a:bodyPr wrap="square" lIns="0" tIns="0" rIns="0" bIns="0" rtlCol="0" anchor="ctr"/>
          <a:lstStyle/>
          <a:p>
            <a:pPr marL="0" indent="0">
              <a:buNone/>
            </a:pPr>
            <a:r>
              <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rPr>
              <a:t>Most Discount-Dependent Product</a:t>
            </a:r>
            <a:endPar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txBox="1"/>
          <p:nvPr>
            <p:custDataLst>
              <p:tags r:id="rId18"/>
            </p:custDataLst>
          </p:nvPr>
        </p:nvSpPr>
        <p:spPr>
          <a:xfrm>
            <a:off x="6217920" y="5056632"/>
            <a:ext cx="4709160" cy="594360"/>
          </a:xfrm>
          <a:prstGeom prst="rect">
            <a:avLst/>
          </a:prstGeom>
          <a:noFill/>
        </p:spPr>
        <p:txBody>
          <a:bodyPr wrap="square" lIns="0" tIns="0" rIns="0" bIns="0" rtlCol="0" anchor="ctr"/>
          <a:lstStyle/>
          <a:p>
            <a:pPr marL="0" indent="0">
              <a:buNone/>
            </a:pPr>
            <a:r>
              <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rPr>
              <a:t>Hat — 50% of purchases used a discount</a:t>
            </a:r>
            <a:endParaRPr lang="en-US" sz="1400"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pic>
        <p:nvPicPr>
          <p:cNvPr id="23" name="Picture 22" descr="free-postgresql-icon-svg-download-png-1175120-removebg-preview"/>
          <p:cNvPicPr>
            <a:picLocks noChangeAspect="1"/>
          </p:cNvPicPr>
          <p:nvPr/>
        </p:nvPicPr>
        <p:blipFill>
          <a:blip r:embed="rId19"/>
          <a:stretch>
            <a:fillRect/>
          </a:stretch>
        </p:blipFill>
        <p:spPr>
          <a:xfrm>
            <a:off x="10485120" y="115570"/>
            <a:ext cx="1561465" cy="15614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p:spPr>
        <p:txBody>
          <a:bodyPr wrap="square" lIns="0" tIns="0" rIns="0" bIns="0" rtlCol="0" anchor="ctr"/>
          <a:lstStyle/>
          <a:p>
            <a:pPr marL="0" indent="0">
              <a:buNone/>
            </a:pPr>
            <a:r>
              <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rPr>
              <a:t>STEP 3</a:t>
            </a:r>
            <a:endPar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txBox="1"/>
          <p:nvPr/>
        </p:nvSpPr>
        <p:spPr>
          <a:xfrm>
            <a:off x="548640" y="713232"/>
            <a:ext cx="9601200" cy="640080"/>
          </a:xfrm>
          <a:prstGeom prst="rect">
            <a:avLst/>
          </a:prstGeom>
          <a:noFill/>
        </p:spPr>
        <p:txBody>
          <a:bodyPr wrap="square" lIns="0" tIns="0" rIns="0" bIns="0" rtlCol="0" anchor="ctr"/>
          <a:lstStyle/>
          <a:p>
            <a:pPr marL="0" indent="0">
              <a:buNone/>
            </a:pPr>
            <a:r>
              <a:rPr lang="en-US" sz="2600" b="1" dirty="0">
                <a:solidFill>
                  <a:srgbClr val="1B2A4A"/>
                </a:solidFill>
                <a:latin typeface="Cambria" panose="02040503050406030204" pitchFamily="34" charset="0"/>
                <a:ea typeface="Cambria" panose="02040503050406030204" pitchFamily="34" charset="-122"/>
                <a:cs typeface="Cambria" panose="02040503050406030204" pitchFamily="34" charset="-120"/>
              </a:rPr>
              <a:t>Power BI Dashboard</a:t>
            </a:r>
            <a:endParaRPr lang="en-US" sz="2600" dirty="0"/>
          </a:p>
        </p:txBody>
      </p:sp>
      <p:sp>
        <p:nvSpPr>
          <p:cNvPr id="4" name="Shape 2"/>
          <p:cNvSpPr/>
          <p:nvPr/>
        </p:nvSpPr>
        <p:spPr>
          <a:xfrm>
            <a:off x="548640" y="1371600"/>
            <a:ext cx="11064240" cy="0"/>
          </a:xfrm>
          <a:prstGeom prst="line">
            <a:avLst/>
          </a:prstGeom>
          <a:noFill/>
          <a:ln w="12700">
            <a:solidFill>
              <a:srgbClr val="E3E6EC"/>
            </a:solidFill>
            <a:prstDash val="solid"/>
          </a:ln>
        </p:spPr>
      </p:sp>
      <p:pic>
        <p:nvPicPr>
          <p:cNvPr id="6" name="Picture 5" descr="customerbehaviorss"/>
          <p:cNvPicPr>
            <a:picLocks noChangeAspect="1"/>
          </p:cNvPicPr>
          <p:nvPr/>
        </p:nvPicPr>
        <p:blipFill>
          <a:blip r:embed="rId1"/>
          <a:stretch>
            <a:fillRect/>
          </a:stretch>
        </p:blipFill>
        <p:spPr>
          <a:xfrm>
            <a:off x="1202690" y="1556385"/>
            <a:ext cx="9284335" cy="4830445"/>
          </a:xfrm>
          <a:prstGeom prst="rect">
            <a:avLst/>
          </a:prstGeom>
        </p:spPr>
      </p:pic>
      <p:pic>
        <p:nvPicPr>
          <p:cNvPr id="7" name="Picture 6" descr="New_Power_BI_Logo.svg-removebg-preview"/>
          <p:cNvPicPr>
            <a:picLocks noChangeAspect="1"/>
          </p:cNvPicPr>
          <p:nvPr/>
        </p:nvPicPr>
        <p:blipFill>
          <a:blip r:embed="rId2"/>
          <a:stretch>
            <a:fillRect/>
          </a:stretch>
        </p:blipFill>
        <p:spPr>
          <a:xfrm>
            <a:off x="10427335" y="226060"/>
            <a:ext cx="1764665" cy="11455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p:spPr>
        <p:txBody>
          <a:bodyPr wrap="square" lIns="0" tIns="0" rIns="0" bIns="0" rtlCol="0" anchor="ctr"/>
          <a:lstStyle/>
          <a:p>
            <a:pPr marL="0" indent="0">
              <a:buNone/>
            </a:pPr>
            <a:r>
              <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rPr>
              <a:t>OUTCOME</a:t>
            </a:r>
            <a:endParaRPr lang="en-US" b="1" kern="0" spc="200" dirty="0">
              <a:solidFill>
                <a:srgbClr val="D6336C"/>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txBox="1"/>
          <p:nvPr/>
        </p:nvSpPr>
        <p:spPr>
          <a:xfrm>
            <a:off x="548640" y="713232"/>
            <a:ext cx="9601200" cy="640080"/>
          </a:xfrm>
          <a:prstGeom prst="rect">
            <a:avLst/>
          </a:prstGeom>
          <a:noFill/>
        </p:spPr>
        <p:txBody>
          <a:bodyPr wrap="square" lIns="0" tIns="0" rIns="0" bIns="0" rtlCol="0" anchor="ctr"/>
          <a:lstStyle/>
          <a:p>
            <a:pPr marL="0" indent="0">
              <a:buNone/>
            </a:pPr>
            <a:r>
              <a:rPr lang="en-US" sz="2600" b="1" dirty="0">
                <a:solidFill>
                  <a:srgbClr val="1B2A4A"/>
                </a:solidFill>
                <a:latin typeface="Cambria" panose="02040503050406030204" pitchFamily="34" charset="0"/>
                <a:ea typeface="Cambria" panose="02040503050406030204" pitchFamily="34" charset="-122"/>
                <a:cs typeface="Cambria" panose="02040503050406030204" pitchFamily="34" charset="-120"/>
              </a:rPr>
              <a:t>Business Recommendations</a:t>
            </a:r>
            <a:endParaRPr lang="en-US" sz="2600" dirty="0"/>
          </a:p>
        </p:txBody>
      </p:sp>
      <p:sp>
        <p:nvSpPr>
          <p:cNvPr id="4" name="Shape 2"/>
          <p:cNvSpPr/>
          <p:nvPr/>
        </p:nvSpPr>
        <p:spPr>
          <a:xfrm>
            <a:off x="548640" y="1371600"/>
            <a:ext cx="11064240" cy="0"/>
          </a:xfrm>
          <a:prstGeom prst="line">
            <a:avLst/>
          </a:prstGeom>
          <a:noFill/>
          <a:ln w="12700">
            <a:solidFill>
              <a:srgbClr val="E3E6EC"/>
            </a:solidFill>
            <a:prstDash val="solid"/>
          </a:ln>
        </p:spPr>
      </p:sp>
      <p:sp>
        <p:nvSpPr>
          <p:cNvPr id="5" name="Shape 3"/>
          <p:cNvSpPr/>
          <p:nvPr/>
        </p:nvSpPr>
        <p:spPr>
          <a:xfrm>
            <a:off x="548640" y="1737360"/>
            <a:ext cx="128016" cy="128016"/>
          </a:xfrm>
          <a:prstGeom prst="ellipse">
            <a:avLst/>
          </a:prstGeom>
          <a:solidFill>
            <a:srgbClr val="D6336C"/>
          </a:solidFill>
        </p:spPr>
      </p:sp>
      <p:sp>
        <p:nvSpPr>
          <p:cNvPr id="6" name="Text 4"/>
          <p:cNvSpPr txBox="1"/>
          <p:nvPr>
            <p:custDataLst>
              <p:tags r:id="rId1"/>
            </p:custDataLst>
          </p:nvPr>
        </p:nvSpPr>
        <p:spPr>
          <a:xfrm>
            <a:off x="868680" y="1618488"/>
            <a:ext cx="3657600" cy="365760"/>
          </a:xfrm>
          <a:prstGeom prst="rect">
            <a:avLst/>
          </a:prstGeom>
          <a:noFill/>
        </p:spPr>
        <p:txBody>
          <a:bodyPr wrap="square" lIns="0" tIns="0" rIns="0" bIns="0" rtlCol="0" anchor="ctr"/>
          <a:lstStyle/>
          <a:p>
            <a:pPr marL="0" indent="0">
              <a:buNone/>
            </a:pPr>
            <a:r>
              <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rPr>
              <a:t>Boost Subscriptions</a:t>
            </a:r>
            <a:endPar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5"/>
          <p:cNvSpPr txBox="1"/>
          <p:nvPr>
            <p:custDataLst>
              <p:tags r:id="rId2"/>
            </p:custDataLst>
          </p:nvPr>
        </p:nvSpPr>
        <p:spPr>
          <a:xfrm>
            <a:off x="4663440" y="1618488"/>
            <a:ext cx="6217920" cy="502920"/>
          </a:xfrm>
          <a:prstGeom prst="rect">
            <a:avLst/>
          </a:prstGeom>
          <a:noFill/>
        </p:spPr>
        <p:txBody>
          <a:bodyPr wrap="square" lIns="0" tIns="0" rIns="0" bIns="0" rtlCol="0" anchor="ctr"/>
          <a:lstStyle/>
          <a:p>
            <a:pPr marL="0" indent="0">
              <a:buNone/>
            </a:pPr>
            <a:r>
              <a:rPr lang="en-US" dirty="0">
                <a:solidFill>
                  <a:srgbClr val="5A6472"/>
                </a:solidFill>
                <a:latin typeface="Calibri" panose="020F0502020204030204" pitchFamily="34" charset="0"/>
                <a:ea typeface="Calibri" panose="020F0502020204030204" pitchFamily="34" charset="-122"/>
                <a:cs typeface="Calibri" panose="020F0502020204030204" pitchFamily="34" charset="-120"/>
              </a:rPr>
              <a:t>Promote exclusive benefits to convert more of the 73% non-subscriber base.</a:t>
            </a:r>
            <a:endParaRPr lang="en-US"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548640" y="2578608"/>
            <a:ext cx="128016" cy="128016"/>
          </a:xfrm>
          <a:prstGeom prst="ellipse">
            <a:avLst/>
          </a:prstGeom>
          <a:solidFill>
            <a:srgbClr val="D6336C"/>
          </a:solidFill>
        </p:spPr>
      </p:sp>
      <p:sp>
        <p:nvSpPr>
          <p:cNvPr id="9" name="Text 7"/>
          <p:cNvSpPr txBox="1"/>
          <p:nvPr>
            <p:custDataLst>
              <p:tags r:id="rId3"/>
            </p:custDataLst>
          </p:nvPr>
        </p:nvSpPr>
        <p:spPr>
          <a:xfrm>
            <a:off x="868680" y="2459736"/>
            <a:ext cx="3657600" cy="365760"/>
          </a:xfrm>
          <a:prstGeom prst="rect">
            <a:avLst/>
          </a:prstGeom>
          <a:noFill/>
        </p:spPr>
        <p:txBody>
          <a:bodyPr wrap="square" lIns="0" tIns="0" rIns="0" bIns="0" rtlCol="0" anchor="ctr"/>
          <a:lstStyle/>
          <a:p>
            <a:pPr marL="0" indent="0">
              <a:buNone/>
            </a:pPr>
            <a:r>
              <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rPr>
              <a:t>Customer Loyalty Programs</a:t>
            </a:r>
            <a:endPar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txBox="1"/>
          <p:nvPr>
            <p:custDataLst>
              <p:tags r:id="rId4"/>
            </p:custDataLst>
          </p:nvPr>
        </p:nvSpPr>
        <p:spPr>
          <a:xfrm>
            <a:off x="4663440" y="2459736"/>
            <a:ext cx="6217920" cy="502920"/>
          </a:xfrm>
          <a:prstGeom prst="rect">
            <a:avLst/>
          </a:prstGeom>
          <a:noFill/>
        </p:spPr>
        <p:txBody>
          <a:bodyPr wrap="square" lIns="0" tIns="0" rIns="0" bIns="0" rtlCol="0" anchor="ctr"/>
          <a:lstStyle/>
          <a:p>
            <a:pPr marL="0" indent="0">
              <a:buNone/>
            </a:pPr>
            <a:r>
              <a:rPr lang="en-US" dirty="0">
                <a:solidFill>
                  <a:srgbClr val="5A6472"/>
                </a:solidFill>
                <a:latin typeface="Calibri" panose="020F0502020204030204" pitchFamily="34" charset="0"/>
                <a:ea typeface="Calibri" panose="020F0502020204030204" pitchFamily="34" charset="-122"/>
                <a:cs typeface="Calibri" panose="020F0502020204030204" pitchFamily="34" charset="-120"/>
              </a:rPr>
              <a:t>Reward repeat buyers to help move Returning customers into the Loyal segment.</a:t>
            </a:r>
            <a:endParaRPr lang="en-US"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548640" y="3419856"/>
            <a:ext cx="128016" cy="128016"/>
          </a:xfrm>
          <a:prstGeom prst="ellipse">
            <a:avLst/>
          </a:prstGeom>
          <a:solidFill>
            <a:srgbClr val="D6336C"/>
          </a:solidFill>
        </p:spPr>
      </p:sp>
      <p:sp>
        <p:nvSpPr>
          <p:cNvPr id="12" name="Text 10"/>
          <p:cNvSpPr txBox="1"/>
          <p:nvPr>
            <p:custDataLst>
              <p:tags r:id="rId5"/>
            </p:custDataLst>
          </p:nvPr>
        </p:nvSpPr>
        <p:spPr>
          <a:xfrm>
            <a:off x="868680" y="3300984"/>
            <a:ext cx="3657600" cy="365760"/>
          </a:xfrm>
          <a:prstGeom prst="rect">
            <a:avLst/>
          </a:prstGeom>
          <a:noFill/>
        </p:spPr>
        <p:txBody>
          <a:bodyPr wrap="square" lIns="0" tIns="0" rIns="0" bIns="0" rtlCol="0" anchor="ctr"/>
          <a:lstStyle/>
          <a:p>
            <a:pPr marL="0" indent="0">
              <a:buNone/>
            </a:pPr>
            <a:r>
              <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rPr>
              <a:t>Review Discount Policy</a:t>
            </a:r>
            <a:endPar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txBox="1"/>
          <p:nvPr>
            <p:custDataLst>
              <p:tags r:id="rId6"/>
            </p:custDataLst>
          </p:nvPr>
        </p:nvSpPr>
        <p:spPr>
          <a:xfrm>
            <a:off x="4663440" y="3300984"/>
            <a:ext cx="6217920" cy="502920"/>
          </a:xfrm>
          <a:prstGeom prst="rect">
            <a:avLst/>
          </a:prstGeom>
          <a:noFill/>
        </p:spPr>
        <p:txBody>
          <a:bodyPr wrap="square" lIns="0" tIns="0" rIns="0" bIns="0" rtlCol="0" anchor="ctr"/>
          <a:lstStyle/>
          <a:p>
            <a:pPr marL="0" indent="0">
              <a:buNone/>
            </a:pPr>
            <a:r>
              <a:rPr lang="en-US" dirty="0">
                <a:solidFill>
                  <a:srgbClr val="5A6472"/>
                </a:solidFill>
                <a:latin typeface="Calibri" panose="020F0502020204030204" pitchFamily="34" charset="0"/>
                <a:ea typeface="Calibri" panose="020F0502020204030204" pitchFamily="34" charset="-122"/>
                <a:cs typeface="Calibri" panose="020F0502020204030204" pitchFamily="34" charset="-120"/>
              </a:rPr>
              <a:t>Balance sales lift from discounts (e.g. Hats at 50%) against margin impact.</a:t>
            </a:r>
            <a:endParaRPr lang="en-US"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548640" y="4261104"/>
            <a:ext cx="128016" cy="128016"/>
          </a:xfrm>
          <a:prstGeom prst="ellipse">
            <a:avLst/>
          </a:prstGeom>
          <a:solidFill>
            <a:srgbClr val="D6336C"/>
          </a:solidFill>
        </p:spPr>
      </p:sp>
      <p:sp>
        <p:nvSpPr>
          <p:cNvPr id="15" name="Text 13"/>
          <p:cNvSpPr txBox="1"/>
          <p:nvPr>
            <p:custDataLst>
              <p:tags r:id="rId7"/>
            </p:custDataLst>
          </p:nvPr>
        </p:nvSpPr>
        <p:spPr>
          <a:xfrm>
            <a:off x="868680" y="4142232"/>
            <a:ext cx="3657600" cy="365760"/>
          </a:xfrm>
          <a:prstGeom prst="rect">
            <a:avLst/>
          </a:prstGeom>
          <a:noFill/>
        </p:spPr>
        <p:txBody>
          <a:bodyPr wrap="square" lIns="0" tIns="0" rIns="0" bIns="0" rtlCol="0" anchor="ctr"/>
          <a:lstStyle/>
          <a:p>
            <a:pPr marL="0" indent="0">
              <a:buNone/>
            </a:pPr>
            <a:r>
              <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rPr>
              <a:t>Product Positioning</a:t>
            </a:r>
            <a:endPar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txBox="1"/>
          <p:nvPr>
            <p:custDataLst>
              <p:tags r:id="rId8"/>
            </p:custDataLst>
          </p:nvPr>
        </p:nvSpPr>
        <p:spPr>
          <a:xfrm>
            <a:off x="4663440" y="4142232"/>
            <a:ext cx="6217920" cy="502920"/>
          </a:xfrm>
          <a:prstGeom prst="rect">
            <a:avLst/>
          </a:prstGeom>
          <a:noFill/>
        </p:spPr>
        <p:txBody>
          <a:bodyPr wrap="square" lIns="0" tIns="0" rIns="0" bIns="0" rtlCol="0" anchor="ctr"/>
          <a:lstStyle/>
          <a:p>
            <a:pPr marL="0" indent="0">
              <a:buNone/>
            </a:pPr>
            <a:r>
              <a:rPr lang="en-US" dirty="0">
                <a:solidFill>
                  <a:srgbClr val="5A6472"/>
                </a:solidFill>
                <a:latin typeface="Calibri" panose="020F0502020204030204" pitchFamily="34" charset="0"/>
                <a:ea typeface="Calibri" panose="020F0502020204030204" pitchFamily="34" charset="-122"/>
                <a:cs typeface="Calibri" panose="020F0502020204030204" pitchFamily="34" charset="-120"/>
              </a:rPr>
              <a:t>Highlight top-rated and best-selling items — Gloves, Sandals, Jackets — in campaigns.</a:t>
            </a:r>
            <a:endParaRPr lang="en-US"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nvSpPr>
        <p:spPr>
          <a:xfrm>
            <a:off x="548640" y="5102352"/>
            <a:ext cx="128016" cy="128016"/>
          </a:xfrm>
          <a:prstGeom prst="ellipse">
            <a:avLst/>
          </a:prstGeom>
          <a:solidFill>
            <a:srgbClr val="D6336C"/>
          </a:solidFill>
        </p:spPr>
      </p:sp>
      <p:sp>
        <p:nvSpPr>
          <p:cNvPr id="18" name="Text 16"/>
          <p:cNvSpPr txBox="1"/>
          <p:nvPr>
            <p:custDataLst>
              <p:tags r:id="rId9"/>
            </p:custDataLst>
          </p:nvPr>
        </p:nvSpPr>
        <p:spPr>
          <a:xfrm>
            <a:off x="868680" y="4983480"/>
            <a:ext cx="3657600" cy="365760"/>
          </a:xfrm>
          <a:prstGeom prst="rect">
            <a:avLst/>
          </a:prstGeom>
          <a:noFill/>
        </p:spPr>
        <p:txBody>
          <a:bodyPr wrap="square" lIns="0" tIns="0" rIns="0" bIns="0" rtlCol="0" anchor="ctr"/>
          <a:lstStyle/>
          <a:p>
            <a:pPr marL="0" indent="0">
              <a:buNone/>
            </a:pPr>
            <a:r>
              <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rPr>
              <a:t>Targeted Marketing</a:t>
            </a:r>
            <a:endPar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txBox="1"/>
          <p:nvPr>
            <p:custDataLst>
              <p:tags r:id="rId10"/>
            </p:custDataLst>
          </p:nvPr>
        </p:nvSpPr>
        <p:spPr>
          <a:xfrm>
            <a:off x="4663440" y="4983480"/>
            <a:ext cx="6217920" cy="502920"/>
          </a:xfrm>
          <a:prstGeom prst="rect">
            <a:avLst/>
          </a:prstGeom>
          <a:noFill/>
        </p:spPr>
        <p:txBody>
          <a:bodyPr wrap="square" lIns="0" tIns="0" rIns="0" bIns="0" rtlCol="0" anchor="ctr"/>
          <a:lstStyle/>
          <a:p>
            <a:pPr marL="0" indent="0">
              <a:buNone/>
            </a:pPr>
            <a:r>
              <a:rPr lang="en-US" dirty="0">
                <a:solidFill>
                  <a:srgbClr val="5A6472"/>
                </a:solidFill>
                <a:latin typeface="Calibri" panose="020F0502020204030204" pitchFamily="34" charset="0"/>
                <a:ea typeface="Calibri" panose="020F0502020204030204" pitchFamily="34" charset="-122"/>
                <a:cs typeface="Calibri" panose="020F0502020204030204" pitchFamily="34" charset="-120"/>
              </a:rPr>
              <a:t>Focus spend on high-revenue segments: Young Adults and Express-shipping users.</a:t>
            </a:r>
            <a:endParaRPr lang="en-US" dirty="0">
              <a:solidFill>
                <a:srgbClr val="5A6472"/>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48000" y="2798445"/>
            <a:ext cx="6096000" cy="675640"/>
          </a:xfrm>
          <a:prstGeom prst="rect">
            <a:avLst/>
          </a:prstGeom>
          <a:noFill/>
        </p:spPr>
        <p:txBody>
          <a:bodyPr wrap="square" rtlCol="0" anchor="t">
            <a:spAutoFit/>
          </a:bodyPr>
          <a:p>
            <a:pPr marL="0" indent="0" algn="ctr">
              <a:buNone/>
            </a:pPr>
            <a:r>
              <a:rPr lang="en-US" altLang="en-US" sz="3800" b="1" dirty="0">
                <a:solidFill>
                  <a:srgbClr val="1B2A4A"/>
                </a:solidFill>
                <a:latin typeface="Cambria" panose="02040503050406030204" pitchFamily="34" charset="0"/>
                <a:ea typeface="Cambria" panose="02040503050406030204" pitchFamily="34" charset="-122"/>
                <a:cs typeface="Cambria" panose="02040503050406030204" pitchFamily="34" charset="-120"/>
                <a:sym typeface="+mn-ea"/>
              </a:rPr>
              <a:t>THANK YOU!</a:t>
            </a:r>
            <a:endParaRPr lang="en-US" altLang="en-US" sz="3800" b="1" dirty="0">
              <a:solidFill>
                <a:srgbClr val="1B2A4A"/>
              </a:solidFill>
              <a:latin typeface="Cambria" panose="02040503050406030204" pitchFamily="34" charset="0"/>
              <a:ea typeface="Cambria" panose="02040503050406030204" pitchFamily="34" charset="-122"/>
              <a:cs typeface="Cambria" panose="02040503050406030204" pitchFamily="34" charset="-120"/>
              <a:sym typeface="+mn-ea"/>
            </a:endParaRPr>
          </a:p>
        </p:txBody>
      </p:sp>
      <p:pic>
        <p:nvPicPr>
          <p:cNvPr id="3" name="Picture 2" descr="Python-logo-notext.svg-removebg-preview"/>
          <p:cNvPicPr>
            <a:picLocks noChangeAspect="1"/>
          </p:cNvPicPr>
          <p:nvPr/>
        </p:nvPicPr>
        <p:blipFill>
          <a:blip r:embed="rId1"/>
          <a:stretch>
            <a:fillRect/>
          </a:stretch>
        </p:blipFill>
        <p:spPr>
          <a:xfrm rot="20940000">
            <a:off x="762635" y="1174750"/>
            <a:ext cx="1494790" cy="1494790"/>
          </a:xfrm>
          <a:prstGeom prst="rect">
            <a:avLst/>
          </a:prstGeom>
        </p:spPr>
      </p:pic>
      <p:pic>
        <p:nvPicPr>
          <p:cNvPr id="4" name="Picture 3" descr="New_Power_BI_Logo.svg-removebg-preview"/>
          <p:cNvPicPr>
            <a:picLocks noChangeAspect="1"/>
          </p:cNvPicPr>
          <p:nvPr/>
        </p:nvPicPr>
        <p:blipFill>
          <a:blip r:embed="rId2"/>
          <a:stretch>
            <a:fillRect/>
          </a:stretch>
        </p:blipFill>
        <p:spPr>
          <a:xfrm rot="240000">
            <a:off x="8374380" y="4311015"/>
            <a:ext cx="1744980" cy="1744980"/>
          </a:xfrm>
          <a:prstGeom prst="rect">
            <a:avLst/>
          </a:prstGeom>
        </p:spPr>
      </p:pic>
      <p:pic>
        <p:nvPicPr>
          <p:cNvPr id="5" name="Picture 4" descr="free-postgresql-icon-svg-download-png-1175120-removebg-preview"/>
          <p:cNvPicPr>
            <a:picLocks noChangeAspect="1"/>
          </p:cNvPicPr>
          <p:nvPr/>
        </p:nvPicPr>
        <p:blipFill>
          <a:blip r:embed="rId3"/>
          <a:stretch>
            <a:fillRect/>
          </a:stretch>
        </p:blipFill>
        <p:spPr>
          <a:xfrm rot="21180000">
            <a:off x="1669415" y="4041140"/>
            <a:ext cx="1982470" cy="1982470"/>
          </a:xfrm>
          <a:prstGeom prst="rect">
            <a:avLst/>
          </a:prstGeom>
        </p:spPr>
      </p:pic>
      <p:pic>
        <p:nvPicPr>
          <p:cNvPr id="6" name="Picture 5" descr="Microsoft_Excel-Logo.wine-removebg-preview (1)"/>
          <p:cNvPicPr>
            <a:picLocks noChangeAspect="1"/>
          </p:cNvPicPr>
          <p:nvPr/>
        </p:nvPicPr>
        <p:blipFill>
          <a:blip r:embed="rId4"/>
          <a:stretch>
            <a:fillRect/>
          </a:stretch>
        </p:blipFill>
        <p:spPr>
          <a:xfrm rot="600000">
            <a:off x="9011920" y="847090"/>
            <a:ext cx="2607310" cy="1738630"/>
          </a:xfrm>
          <a:prstGeom prst="rect">
            <a:avLst/>
          </a:prstGeom>
        </p:spPr>
      </p:pic>
      <p:pic>
        <p:nvPicPr>
          <p:cNvPr id="7" name="Picture 6" descr="jupyter-logo-png_seeklogo-354673-removebg-preview"/>
          <p:cNvPicPr>
            <a:picLocks noChangeAspect="1"/>
          </p:cNvPicPr>
          <p:nvPr/>
        </p:nvPicPr>
        <p:blipFill>
          <a:blip r:embed="rId5"/>
          <a:stretch>
            <a:fillRect/>
          </a:stretch>
        </p:blipFill>
        <p:spPr>
          <a:xfrm rot="20880000">
            <a:off x="4453890" y="311150"/>
            <a:ext cx="1642110" cy="1642110"/>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494.25,&quot;left&quot;:43.2,&quot;top&quot;:13.25,&quot;width&quot;:958.9}"/>
</p:tagLst>
</file>

<file path=ppt/tags/tag2.xml><?xml version="1.0" encoding="utf-8"?>
<p:tagLst xmlns:p="http://schemas.openxmlformats.org/presentationml/2006/main">
  <p:tag name="KSO_WM_DIAGRAM_VIRTUALLY_FRAME" val="{&quot;height&quot;:494.25,&quot;left&quot;:43.2,&quot;top&quot;:13.25,&quot;width&quot;:958.9}"/>
</p:tagLst>
</file>

<file path=ppt/tags/tag3.xml><?xml version="1.0" encoding="utf-8"?>
<p:tagLst xmlns:p="http://schemas.openxmlformats.org/presentationml/2006/main">
  <p:tag name="KSO_WM_DIAGRAM_VIRTUALLY_FRAME" val="{&quot;height&quot;:494.25,&quot;left&quot;:43.2,&quot;top&quot;:13.25,&quot;width&quot;:958.9}"/>
</p:tagLst>
</file>

<file path=ppt/tags/tag4.xml><?xml version="1.0" encoding="utf-8"?>
<p:tagLst xmlns:p="http://schemas.openxmlformats.org/presentationml/2006/main">
  <p:tag name="KSO_WM_DIAGRAM_VIRTUALLY_FRAME" val="{&quot;height&quot;:494.25,&quot;left&quot;:43.2,&quot;top&quot;:13.25,&quot;width&quot;:958.9}"/>
</p:tagLst>
</file>

<file path=ppt/tags/tag5.xml><?xml version="1.0" encoding="utf-8"?>
<p:tagLst xmlns:p="http://schemas.openxmlformats.org/presentationml/2006/main">
  <p:tag name="KSO_WM_DIAGRAM_VIRTUALLY_FRAME" val="{&quot;height&quot;:494.25,&quot;left&quot;:43.2,&quot;top&quot;:13.25,&quot;width&quot;:958.9}"/>
</p:tagLst>
</file>

<file path=ppt/tags/tag6.xml><?xml version="1.0" encoding="utf-8"?>
<p:tagLst xmlns:p="http://schemas.openxmlformats.org/presentationml/2006/main">
  <p:tag name="KSO_WM_DIAGRAM_VIRTUALLY_FRAME" val="{&quot;height&quot;:494.25,&quot;left&quot;:43.2,&quot;top&quot;:13.25,&quot;width&quot;:958.9}"/>
</p:tagLst>
</file>

<file path=ppt/tags/tag7.xml><?xml version="1.0" encoding="utf-8"?>
<p:tagLst xmlns:p="http://schemas.openxmlformats.org/presentationml/2006/main">
  <p:tag name="KSO_WM_DIAGRAM_VIRTUALLY_FRAME" val="{&quot;height&quot;:494.25,&quot;left&quot;:43.2,&quot;top&quot;:13.25,&quot;width&quot;:958.9}"/>
</p:tagLst>
</file>

<file path=ppt/tags/tag8.xml><?xml version="1.0" encoding="utf-8"?>
<p:tagLst xmlns:p="http://schemas.openxmlformats.org/presentationml/2006/main">
  <p:tag name="KSO_WM_DIAGRAM_VIRTUALLY_FRAME" val="{&quot;height&quot;:494.25,&quot;left&quot;:43.2,&quot;top&quot;:13.25,&quot;width&quot;:958.9}"/>
</p:tagLst>
</file>

<file path=ppt/tags/tag9.xml><?xml version="1.0" encoding="utf-8"?>
<p:tagLst xmlns:p="http://schemas.openxmlformats.org/presentationml/2006/main">
  <p:tag name="KSO_WM_DIAGRAM_VIRTUALLY_FRAME" val="{&quot;height&quot;:494.25,&quot;left&quot;:43.2,&quot;top&quot;:13.25,&quot;width&quot;:958.9}"/>
</p:tagLst>
</file>

<file path=ppt/tags/tag10.xml><?xml version="1.0" encoding="utf-8"?>
<p:tagLst xmlns:p="http://schemas.openxmlformats.org/presentationml/2006/main">
  <p:tag name="KSO_WM_DIAGRAM_VIRTUALLY_FRAME" val="{&quot;height&quot;:494.25,&quot;left&quot;:43.2,&quot;top&quot;:13.25,&quot;width&quot;:958.9}"/>
</p:tagLst>
</file>

<file path=ppt/tags/tag11.xml><?xml version="1.0" encoding="utf-8"?>
<p:tagLst xmlns:p="http://schemas.openxmlformats.org/presentationml/2006/main">
  <p:tag name="KSO_WM_DIAGRAM_VIRTUALLY_FRAME" val="{&quot;height&quot;:494.25,&quot;left&quot;:43.2,&quot;top&quot;:13.25,&quot;width&quot;:958.9}"/>
</p:tagLst>
</file>

<file path=ppt/tags/tag12.xml><?xml version="1.0" encoding="utf-8"?>
<p:tagLst xmlns:p="http://schemas.openxmlformats.org/presentationml/2006/main">
  <p:tag name="KSO_WM_DIAGRAM_VIRTUALLY_FRAME" val="{&quot;height&quot;:494.25,&quot;left&quot;:43.2,&quot;top&quot;:13.25,&quot;width&quot;:958.9}"/>
</p:tagLst>
</file>

<file path=ppt/tags/tag13.xml><?xml version="1.0" encoding="utf-8"?>
<p:tagLst xmlns:p="http://schemas.openxmlformats.org/presentationml/2006/main">
  <p:tag name="KSO_WM_DIAGRAM_VIRTUALLY_FRAME" val="{&quot;height&quot;:494.25,&quot;left&quot;:43.2,&quot;top&quot;:13.25,&quot;width&quot;:958.9}"/>
</p:tagLst>
</file>

<file path=ppt/tags/tag14.xml><?xml version="1.0" encoding="utf-8"?>
<p:tagLst xmlns:p="http://schemas.openxmlformats.org/presentationml/2006/main">
  <p:tag name="KSO_WM_DIAGRAM_VIRTUALLY_FRAME" val="{&quot;height&quot;:494.25,&quot;left&quot;:43.2,&quot;top&quot;:13.25,&quot;width&quot;:958.9}"/>
</p:tagLst>
</file>

<file path=ppt/tags/tag15.xml><?xml version="1.0" encoding="utf-8"?>
<p:tagLst xmlns:p="http://schemas.openxmlformats.org/presentationml/2006/main">
  <p:tag name="KSO_WM_DIAGRAM_VIRTUALLY_FRAME" val="{&quot;height&quot;:494.25,&quot;left&quot;:43.2,&quot;top&quot;:13.25,&quot;width&quot;:958.9}"/>
</p:tagLst>
</file>

<file path=ppt/tags/tag16.xml><?xml version="1.0" encoding="utf-8"?>
<p:tagLst xmlns:p="http://schemas.openxmlformats.org/presentationml/2006/main">
  <p:tag name="KSO_WM_DIAGRAM_VIRTUALLY_FRAME" val="{&quot;height&quot;:494.25,&quot;left&quot;:43.2,&quot;top&quot;:13.25,&quot;width&quot;:958.9}"/>
</p:tagLst>
</file>

<file path=ppt/tags/tag17.xml><?xml version="1.0" encoding="utf-8"?>
<p:tagLst xmlns:p="http://schemas.openxmlformats.org/presentationml/2006/main">
  <p:tag name="KSO_WM_DIAGRAM_VIRTUALLY_FRAME" val="{&quot;height&quot;:494.25,&quot;left&quot;:43.2,&quot;top&quot;:13.25,&quot;width&quot;:958.9}"/>
</p:tagLst>
</file>

<file path=ppt/tags/tag18.xml><?xml version="1.0" encoding="utf-8"?>
<p:tagLst xmlns:p="http://schemas.openxmlformats.org/presentationml/2006/main">
  <p:tag name="KSO_WM_DIAGRAM_VIRTUALLY_FRAME" val="{&quot;height&quot;:494.25,&quot;left&quot;:43.2,&quot;top&quot;:13.25,&quot;width&quot;:958.9}"/>
</p:tagLst>
</file>

<file path=ppt/tags/tag19.xml><?xml version="1.0" encoding="utf-8"?>
<p:tagLst xmlns:p="http://schemas.openxmlformats.org/presentationml/2006/main">
  <p:tag name="KSO_WM_DIAGRAM_VIRTUALLY_FRAME" val="{&quot;height&quot;:494.25,&quot;left&quot;:43.2,&quot;top&quot;:13.25,&quot;width&quot;:958.9}"/>
</p:tagLst>
</file>

<file path=ppt/tags/tag20.xml><?xml version="1.0" encoding="utf-8"?>
<p:tagLst xmlns:p="http://schemas.openxmlformats.org/presentationml/2006/main">
  <p:tag name="KSO_WM_DIAGRAM_VIRTUALLY_FRAME" val="{&quot;height&quot;:320.4,&quot;left&quot;:43.2,&quot;top&quot;:133.2,&quot;width&quot;:835.2}"/>
</p:tagLst>
</file>

<file path=ppt/tags/tag21.xml><?xml version="1.0" encoding="utf-8"?>
<p:tagLst xmlns:p="http://schemas.openxmlformats.org/presentationml/2006/main">
  <p:tag name="KSO_WM_DIAGRAM_VIRTUALLY_FRAME" val="{&quot;height&quot;:320.4,&quot;left&quot;:43.2,&quot;top&quot;:133.2,&quot;width&quot;:835.2}"/>
</p:tagLst>
</file>

<file path=ppt/tags/tag22.xml><?xml version="1.0" encoding="utf-8"?>
<p:tagLst xmlns:p="http://schemas.openxmlformats.org/presentationml/2006/main">
  <p:tag name="KSO_WM_DIAGRAM_VIRTUALLY_FRAME" val="{&quot;height&quot;:320.4,&quot;left&quot;:43.2,&quot;top&quot;:133.2,&quot;width&quot;:835.2}"/>
</p:tagLst>
</file>

<file path=ppt/tags/tag23.xml><?xml version="1.0" encoding="utf-8"?>
<p:tagLst xmlns:p="http://schemas.openxmlformats.org/presentationml/2006/main">
  <p:tag name="KSO_WM_DIAGRAM_VIRTUALLY_FRAME" val="{&quot;height&quot;:320.4,&quot;left&quot;:43.2,&quot;top&quot;:133.2,&quot;width&quot;:835.2}"/>
</p:tagLst>
</file>

<file path=ppt/tags/tag24.xml><?xml version="1.0" encoding="utf-8"?>
<p:tagLst xmlns:p="http://schemas.openxmlformats.org/presentationml/2006/main">
  <p:tag name="KSO_WM_DIAGRAM_VIRTUALLY_FRAME" val="{&quot;height&quot;:320.4,&quot;left&quot;:43.2,&quot;top&quot;:133.2,&quot;width&quot;:835.2}"/>
</p:tagLst>
</file>

<file path=ppt/tags/tag25.xml><?xml version="1.0" encoding="utf-8"?>
<p:tagLst xmlns:p="http://schemas.openxmlformats.org/presentationml/2006/main">
  <p:tag name="KSO_WM_DIAGRAM_VIRTUALLY_FRAME" val="{&quot;height&quot;:320.4,&quot;left&quot;:43.2,&quot;top&quot;:133.2,&quot;width&quot;:835.2}"/>
</p:tagLst>
</file>

<file path=ppt/tags/tag26.xml><?xml version="1.0" encoding="utf-8"?>
<p:tagLst xmlns:p="http://schemas.openxmlformats.org/presentationml/2006/main">
  <p:tag name="KSO_WM_DIAGRAM_VIRTUALLY_FRAME" val="{&quot;height&quot;:320.4,&quot;left&quot;:43.2,&quot;top&quot;:133.2,&quot;width&quot;:835.2}"/>
</p:tagLst>
</file>

<file path=ppt/tags/tag27.xml><?xml version="1.0" encoding="utf-8"?>
<p:tagLst xmlns:p="http://schemas.openxmlformats.org/presentationml/2006/main">
  <p:tag name="KSO_WM_DIAGRAM_VIRTUALLY_FRAME" val="{&quot;height&quot;:320.4,&quot;left&quot;:43.2,&quot;top&quot;:133.2,&quot;width&quot;:835.2}"/>
</p:tagLst>
</file>

<file path=ppt/tags/tag28.xml><?xml version="1.0" encoding="utf-8"?>
<p:tagLst xmlns:p="http://schemas.openxmlformats.org/presentationml/2006/main">
  <p:tag name="KSO_WM_DIAGRAM_VIRTUALLY_FRAME" val="{&quot;height&quot;:320.4,&quot;left&quot;:43.2,&quot;top&quot;:133.2,&quot;width&quot;:835.2}"/>
</p:tagLst>
</file>

<file path=ppt/tags/tag29.xml><?xml version="1.0" encoding="utf-8"?>
<p:tagLst xmlns:p="http://schemas.openxmlformats.org/presentationml/2006/main">
  <p:tag name="KSO_WM_DIAGRAM_VIRTUALLY_FRAME" val="{&quot;height&quot;:320.4,&quot;left&quot;:43.2,&quot;top&quot;:133.2,&quot;width&quot;:835.2}"/>
</p:tagLst>
</file>

<file path=ppt/tags/tag30.xml><?xml version="1.0" encoding="utf-8"?>
<p:tagLst xmlns:p="http://schemas.openxmlformats.org/presentationml/2006/main">
  <p:tag name="KSO_WM_DIAGRAM_VIRTUALLY_FRAME" val="{&quot;height&quot;:320.4,&quot;left&quot;:43.2,&quot;top&quot;:133.2,&quot;width&quot;:835.2}"/>
</p:tagLst>
</file>

<file path=ppt/tags/tag31.xml><?xml version="1.0" encoding="utf-8"?>
<p:tagLst xmlns:p="http://schemas.openxmlformats.org/presentationml/2006/main">
  <p:tag name="KSO_WM_DIAGRAM_VIRTUALLY_FRAME" val="{&quot;height&quot;:320.4,&quot;left&quot;:43.2,&quot;top&quot;:133.2,&quot;width&quot;:835.2}"/>
</p:tagLst>
</file>

<file path=ppt/tags/tag32.xml><?xml version="1.0" encoding="utf-8"?>
<p:tagLst xmlns:p="http://schemas.openxmlformats.org/presentationml/2006/main">
  <p:tag name="KSO_WM_DIAGRAM_VIRTUALLY_FRAME" val="{&quot;height&quot;:320.4,&quot;left&quot;:43.2,&quot;top&quot;:133.2,&quot;width&quot;:835.2}"/>
</p:tagLst>
</file>

<file path=ppt/tags/tag33.xml><?xml version="1.0" encoding="utf-8"?>
<p:tagLst xmlns:p="http://schemas.openxmlformats.org/presentationml/2006/main">
  <p:tag name="KSO_WM_DIAGRAM_VIRTUALLY_FRAME" val="{&quot;height&quot;:320.4,&quot;left&quot;:43.2,&quot;top&quot;:133.2,&quot;width&quot;:835.2}"/>
</p:tagLst>
</file>

<file path=ppt/tags/tag34.xml><?xml version="1.0" encoding="utf-8"?>
<p:tagLst xmlns:p="http://schemas.openxmlformats.org/presentationml/2006/main">
  <p:tag name="KSO_WM_DIAGRAM_VIRTUALLY_FRAME" val="{&quot;height&quot;:320.4,&quot;left&quot;:43.2,&quot;top&quot;:133.2,&quot;width&quot;:835.2}"/>
</p:tagLst>
</file>

<file path=ppt/tags/tag35.xml><?xml version="1.0" encoding="utf-8"?>
<p:tagLst xmlns:p="http://schemas.openxmlformats.org/presentationml/2006/main">
  <p:tag name="KSO_WM_DIAGRAM_VIRTUALLY_FRAME" val="{&quot;height&quot;:320.4,&quot;left&quot;:43.2,&quot;top&quot;:133.2,&quot;width&quot;:835.2}"/>
</p:tagLst>
</file>

<file path=ppt/tags/tag36.xml><?xml version="1.0" encoding="utf-8"?>
<p:tagLst xmlns:p="http://schemas.openxmlformats.org/presentationml/2006/main">
  <p:tag name="KSO_WM_DIAGRAM_VIRTUALLY_FRAME" val="{&quot;height&quot;:320.4,&quot;left&quot;:43.2,&quot;top&quot;:133.2,&quot;width&quot;:835.2}"/>
</p:tagLst>
</file>

<file path=ppt/tags/tag37.xml><?xml version="1.0" encoding="utf-8"?>
<p:tagLst xmlns:p="http://schemas.openxmlformats.org/presentationml/2006/main">
  <p:tag name="KSO_WM_DIAGRAM_VIRTUALLY_FRAME" val="{&quot;height&quot;:320.4,&quot;left&quot;:43.2,&quot;top&quot;:133.2,&quot;width&quot;:835.2}"/>
</p:tagLst>
</file>

<file path=ppt/tags/tag38.xml><?xml version="1.0" encoding="utf-8"?>
<p:tagLst xmlns:p="http://schemas.openxmlformats.org/presentationml/2006/main">
  <p:tag name="KSO_WM_DIAGRAM_VIRTUALLY_FRAME" val="{&quot;height&quot;:304.56,&quot;left&quot;:68.4,&quot;top&quot;:127.44000000000001,&quot;width&quot;:788.4}"/>
</p:tagLst>
</file>

<file path=ppt/tags/tag39.xml><?xml version="1.0" encoding="utf-8"?>
<p:tagLst xmlns:p="http://schemas.openxmlformats.org/presentationml/2006/main">
  <p:tag name="KSO_WM_DIAGRAM_VIRTUALLY_FRAME" val="{&quot;height&quot;:304.56,&quot;left&quot;:68.4,&quot;top&quot;:127.44000000000001,&quot;width&quot;:788.4}"/>
</p:tagLst>
</file>

<file path=ppt/tags/tag40.xml><?xml version="1.0" encoding="utf-8"?>
<p:tagLst xmlns:p="http://schemas.openxmlformats.org/presentationml/2006/main">
  <p:tag name="KSO_WM_DIAGRAM_VIRTUALLY_FRAME" val="{&quot;height&quot;:304.56,&quot;left&quot;:68.4,&quot;top&quot;:127.44000000000001,&quot;width&quot;:788.4}"/>
</p:tagLst>
</file>

<file path=ppt/tags/tag41.xml><?xml version="1.0" encoding="utf-8"?>
<p:tagLst xmlns:p="http://schemas.openxmlformats.org/presentationml/2006/main">
  <p:tag name="KSO_WM_DIAGRAM_VIRTUALLY_FRAME" val="{&quot;height&quot;:304.56,&quot;left&quot;:68.4,&quot;top&quot;:127.44000000000001,&quot;width&quot;:788.4}"/>
</p:tagLst>
</file>

<file path=ppt/tags/tag42.xml><?xml version="1.0" encoding="utf-8"?>
<p:tagLst xmlns:p="http://schemas.openxmlformats.org/presentationml/2006/main">
  <p:tag name="KSO_WM_DIAGRAM_VIRTUALLY_FRAME" val="{&quot;height&quot;:304.56,&quot;left&quot;:68.4,&quot;top&quot;:127.44000000000001,&quot;width&quot;:788.4}"/>
</p:tagLst>
</file>

<file path=ppt/tags/tag43.xml><?xml version="1.0" encoding="utf-8"?>
<p:tagLst xmlns:p="http://schemas.openxmlformats.org/presentationml/2006/main">
  <p:tag name="KSO_WM_DIAGRAM_VIRTUALLY_FRAME" val="{&quot;height&quot;:304.56,&quot;left&quot;:68.4,&quot;top&quot;:127.44000000000001,&quot;width&quot;:788.4}"/>
</p:tagLst>
</file>

<file path=ppt/tags/tag44.xml><?xml version="1.0" encoding="utf-8"?>
<p:tagLst xmlns:p="http://schemas.openxmlformats.org/presentationml/2006/main">
  <p:tag name="KSO_WM_DIAGRAM_VIRTUALLY_FRAME" val="{&quot;height&quot;:304.56,&quot;left&quot;:68.4,&quot;top&quot;:127.44000000000001,&quot;width&quot;:788.4}"/>
</p:tagLst>
</file>

<file path=ppt/tags/tag45.xml><?xml version="1.0" encoding="utf-8"?>
<p:tagLst xmlns:p="http://schemas.openxmlformats.org/presentationml/2006/main">
  <p:tag name="KSO_WM_DIAGRAM_VIRTUALLY_FRAME" val="{&quot;height&quot;:304.56,&quot;left&quot;:68.4,&quot;top&quot;:127.44000000000001,&quot;width&quot;:788.4}"/>
</p:tagLst>
</file>

<file path=ppt/tags/tag46.xml><?xml version="1.0" encoding="utf-8"?>
<p:tagLst xmlns:p="http://schemas.openxmlformats.org/presentationml/2006/main">
  <p:tag name="KSO_WM_DIAGRAM_VIRTUALLY_FRAME" val="{&quot;height&quot;:304.56,&quot;left&quot;:68.4,&quot;top&quot;:127.44000000000001,&quot;width&quot;:788.4}"/>
</p:tagLst>
</file>

<file path=ppt/tags/tag47.xml><?xml version="1.0" encoding="utf-8"?>
<p:tagLst xmlns:p="http://schemas.openxmlformats.org/presentationml/2006/main">
  <p:tag name="KSO_WM_DIAGRAM_VIRTUALLY_FRAME" val="{&quot;height&quot;:304.56,&quot;left&quot;:68.4,&quot;top&quot;:127.44000000000001,&quot;width&quot;:788.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2643</Words>
  <Application>WPS Presentation</Application>
  <PresentationFormat>On-screen Show (16:9)</PresentationFormat>
  <Paragraphs>143</Paragraphs>
  <Slides>8</Slides>
  <Notes>7</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8</vt:i4>
      </vt:variant>
    </vt:vector>
  </HeadingPairs>
  <TitlesOfParts>
    <vt:vector size="29"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Blackadder ITC</vt:lpstr>
      <vt:lpstr>Bodoni MT Black</vt:lpstr>
      <vt:lpstr>Bodoni MT Condensed</vt:lpstr>
      <vt:lpstr>Bahnschrift SemiBold SemiCondensed</vt:lpstr>
      <vt:lpstr>Bahnschrift Light</vt:lpstr>
      <vt:lpstr>Agency FB</vt:lpstr>
      <vt:lpstr>Algerian</vt:lpstr>
      <vt:lpstr>Arial Black</vt:lpstr>
      <vt:lpstr>Arial Narrow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n</cp:lastModifiedBy>
  <cp:revision>2</cp:revision>
  <dcterms:created xsi:type="dcterms:W3CDTF">2026-09-16T14:51:00Z</dcterms:created>
  <dcterms:modified xsi:type="dcterms:W3CDTF">2026-09-16T15:30:14Z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1062FCC22D924D77878FDC96BF905AB8_12</vt:lpwstr>
  </property>
  <property fmtid="{D5CDD505-2E9C-101B-9397-08002B2CF9AE}" pid="3" name="KSOProductBuildVer">
    <vt:lpwstr>2057-12.2.0.23206</vt:lpwstr>
  </property>
</Properties>
</file>